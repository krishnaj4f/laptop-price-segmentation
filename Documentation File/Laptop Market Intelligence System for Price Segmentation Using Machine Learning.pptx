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2"/>
  </p:sldMasterIdLst>
  <p:sldIdLst>
    <p:sldId id="256" r:id="rId3"/>
    <p:sldId id="257" r:id="rId4"/>
    <p:sldId id="259" r:id="rId5"/>
    <p:sldId id="260" r:id="rId6"/>
    <p:sldId id="258" r:id="rId7"/>
    <p:sldId id="261" r:id="rId8"/>
    <p:sldId id="262" r:id="rId9"/>
    <p:sldId id="263" r:id="rId10"/>
    <p:sldId id="277" r:id="rId11"/>
    <p:sldId id="264" r:id="rId12"/>
    <p:sldId id="265" r:id="rId13"/>
    <p:sldId id="266" r:id="rId14"/>
    <p:sldId id="267" r:id="rId15"/>
    <p:sldId id="278" r:id="rId16"/>
    <p:sldId id="268" r:id="rId17"/>
    <p:sldId id="269" r:id="rId18"/>
    <p:sldId id="270" r:id="rId19"/>
    <p:sldId id="271" r:id="rId20"/>
    <p:sldId id="272" r:id="rId21"/>
    <p:sldId id="273" r:id="rId22"/>
    <p:sldId id="274" r:id="rId23"/>
    <p:sldId id="276" r:id="rId2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1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p:scale>
          <a:sx n="79" d="100"/>
          <a:sy n="79" d="100"/>
        </p:scale>
        <p:origin x="998" y="365"/>
      </p:cViewPr>
      <p:guideLst>
        <p:guide orient="horz" pos="1620"/>
        <p:guide pos="215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920" y="368280"/>
            <a:ext cx="7930800" cy="2430360"/>
          </a:xfrm>
          <a:prstGeom prst="rect">
            <a:avLst/>
          </a:prstGeom>
          <a:noFill/>
          <a:ln w="0">
            <a:noFill/>
          </a:ln>
        </p:spPr>
        <p:txBody>
          <a:bodyPr lIns="91440" tIns="91440" rIns="91440" bIns="91440" anchor="t">
            <a:noAutofit/>
          </a:bodyPr>
          <a:lstStyle/>
          <a:p>
            <a:pPr indent="0">
              <a:buNone/>
            </a:pPr>
            <a:r>
              <a:rPr lang="fr-FR" sz="7500" b="0" u="none" strike="noStrike">
                <a:solidFill>
                  <a:schemeClr val="dk1"/>
                </a:solidFill>
                <a:effectLst/>
                <a:uFillTx/>
                <a:latin typeface="Arial"/>
              </a:rPr>
              <a:t>Click to edit the title text format</a:t>
            </a:r>
          </a:p>
        </p:txBody>
      </p:sp>
      <p:pic>
        <p:nvPicPr>
          <p:cNvPr id="4" name="Google Shape;11;p2"/>
          <p:cNvPicPr/>
          <p:nvPr/>
        </p:nvPicPr>
        <p:blipFill>
          <a:blip r:embed="rId2">
            <a:alphaModFix amt="64000"/>
          </a:blip>
          <a:srcRect l="11021" r="13736" b="8153"/>
          <a:stretch/>
        </p:blipFill>
        <p:spPr>
          <a:xfrm>
            <a:off x="3834360" y="1266120"/>
            <a:ext cx="6625800" cy="5777280"/>
          </a:xfrm>
          <a:prstGeom prst="rect">
            <a:avLst/>
          </a:prstGeom>
          <a:noFill/>
          <a:ln w="0">
            <a:noFill/>
          </a:ln>
        </p:spPr>
      </p:pic>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1284120" y="1953000"/>
            <a:ext cx="4454280" cy="799200"/>
          </a:xfrm>
          <a:prstGeom prst="rect">
            <a:avLst/>
          </a:prstGeom>
          <a:noFill/>
          <a:ln w="0">
            <a:noFill/>
          </a:ln>
        </p:spPr>
        <p:txBody>
          <a:bodyPr lIns="91440" tIns="91440" rIns="91440" bIns="91440" anchor="b">
            <a:noAutofit/>
          </a:bodyPr>
          <a:lstStyle/>
          <a:p>
            <a:pPr indent="0">
              <a:lnSpc>
                <a:spcPct val="100000"/>
              </a:lnSpc>
              <a:buNone/>
            </a:pPr>
            <a:r>
              <a:rPr lang="fr-FR" sz="6000" b="0" u="none" strike="noStrike">
                <a:solidFill>
                  <a:schemeClr val="dk1"/>
                </a:solidFill>
                <a:effectLst/>
                <a:uFillTx/>
                <a:latin typeface="Viaoda Libre"/>
                <a:ea typeface="Viaoda Libr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576520" y="129276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5" name="PlaceHolder 2"/>
          <p:cNvSpPr>
            <a:spLocks noGrp="1"/>
          </p:cNvSpPr>
          <p:nvPr>
            <p:ph type="title"/>
          </p:nvPr>
        </p:nvSpPr>
        <p:spPr>
          <a:xfrm>
            <a:off x="2576520" y="218772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6" name="PlaceHolder 3"/>
          <p:cNvSpPr>
            <a:spLocks noGrp="1"/>
          </p:cNvSpPr>
          <p:nvPr>
            <p:ph type="title"/>
          </p:nvPr>
        </p:nvSpPr>
        <p:spPr>
          <a:xfrm>
            <a:off x="2576520" y="308268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7" name="PlaceHolder 4"/>
          <p:cNvSpPr>
            <a:spLocks noGrp="1"/>
          </p:cNvSpPr>
          <p:nvPr>
            <p:ph type="title"/>
          </p:nvPr>
        </p:nvSpPr>
        <p:spPr>
          <a:xfrm>
            <a:off x="2576520" y="393768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8" name="PlaceHolder 5"/>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9" name="Google Shape;55;p13"/>
          <p:cNvPicPr/>
          <p:nvPr/>
        </p:nvPicPr>
        <p:blipFill>
          <a:blip r:embed="rId2">
            <a:alphaModFix amt="64000"/>
          </a:blip>
          <a:srcRect l="11021" r="13736" b="8153"/>
          <a:stretch/>
        </p:blipFill>
        <p:spPr>
          <a:xfrm rot="10523400">
            <a:off x="6530760" y="569520"/>
            <a:ext cx="6625800" cy="5777280"/>
          </a:xfrm>
          <a:prstGeom prst="rect">
            <a:avLst/>
          </a:prstGeom>
          <a:noFill/>
          <a:ln w="0">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3445560"/>
            <a:ext cx="8113320" cy="1274760"/>
          </a:xfrm>
          <a:prstGeom prst="rect">
            <a:avLst/>
          </a:prstGeom>
          <a:noFill/>
          <a:ln w="0">
            <a:noFill/>
          </a:ln>
        </p:spPr>
        <p:txBody>
          <a:bodyPr lIns="91440" tIns="91440" rIns="91440" bIns="91440" anchor="b">
            <a:noAutofit/>
          </a:bodyPr>
          <a:lstStyle/>
          <a:p>
            <a:pPr indent="0">
              <a:buNone/>
            </a:pPr>
            <a:r>
              <a:rPr lang="fr-FR" sz="3300" b="0" u="none" strike="noStrike">
                <a:solidFill>
                  <a:schemeClr val="dk1"/>
                </a:solidFill>
                <a:effectLst/>
                <a:uFillTx/>
                <a:latin typeface="Arial"/>
              </a:rPr>
              <a:t>Click to edit the title text format</a:t>
            </a:r>
          </a:p>
        </p:txBody>
      </p:sp>
      <p:pic>
        <p:nvPicPr>
          <p:cNvPr id="11" name="Google Shape;59;p14"/>
          <p:cNvPicPr/>
          <p:nvPr/>
        </p:nvPicPr>
        <p:blipFill>
          <a:blip r:embed="rId2">
            <a:alphaModFix amt="64000"/>
          </a:blip>
          <a:srcRect l="11021" r="13736" b="8153"/>
          <a:stretch/>
        </p:blipFill>
        <p:spPr>
          <a:xfrm rot="19518600">
            <a:off x="3620520" y="2570760"/>
            <a:ext cx="6625800" cy="5777280"/>
          </a:xfrm>
          <a:prstGeom prst="rect">
            <a:avLst/>
          </a:prstGeom>
          <a:noFill/>
          <a:ln w="0">
            <a:noFill/>
          </a:ln>
        </p:spPr>
      </p:pic>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body"/>
          </p:nvPr>
        </p:nvSpPr>
        <p:spPr>
          <a:xfrm>
            <a:off x="845280" y="1199520"/>
            <a:ext cx="4619880" cy="20998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4"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15" name="Google Shape;63;p15"/>
          <p:cNvPicPr/>
          <p:nvPr/>
        </p:nvPicPr>
        <p:blipFill>
          <a:blip r:embed="rId2">
            <a:alphaModFix amt="64000"/>
          </a:blip>
          <a:srcRect l="11021" r="13736" b="8153"/>
          <a:stretch/>
        </p:blipFill>
        <p:spPr>
          <a:xfrm rot="3072000">
            <a:off x="-2614320" y="-1976760"/>
            <a:ext cx="4433400" cy="3866040"/>
          </a:xfrm>
          <a:prstGeom prst="rect">
            <a:avLst/>
          </a:prstGeom>
          <a:noFill/>
          <a:ln w="0">
            <a:noFill/>
          </a:ln>
        </p:spPr>
      </p:pic>
      <p:sp>
        <p:nvSpPr>
          <p:cNvPr id="16" name="PlaceHolder 3"/>
          <p:cNvSpPr>
            <a:spLocks noGrp="1"/>
          </p:cNvSpPr>
          <p:nvPr>
            <p:ph type="body"/>
          </p:nvPr>
        </p:nvSpPr>
        <p:spPr>
          <a:xfrm>
            <a:off x="5782680" y="1249560"/>
            <a:ext cx="3360960" cy="3893760"/>
          </a:xfrm>
          <a:prstGeom prst="rect">
            <a:avLst/>
          </a:prstGeom>
          <a:noFill/>
          <a:ln w="0">
            <a:noFill/>
          </a:ln>
        </p:spPr>
        <p:txBody>
          <a:bodyPr lIns="90000" tIns="45000" rIns="90000" bIns="45000" anchor="t">
            <a:normAutofit fontScale="850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17" name="Google Shape;66;p16"/>
          <p:cNvPicPr/>
          <p:nvPr/>
        </p:nvPicPr>
        <p:blipFill>
          <a:blip r:embed="rId2">
            <a:alphaModFix amt="64000"/>
          </a:blip>
          <a:srcRect l="11021" r="13736" b="8153"/>
          <a:stretch/>
        </p:blipFill>
        <p:spPr>
          <a:xfrm rot="13175400">
            <a:off x="172080" y="-2061000"/>
            <a:ext cx="4599360" cy="4010400"/>
          </a:xfrm>
          <a:prstGeom prst="rect">
            <a:avLst/>
          </a:prstGeom>
          <a:noFill/>
          <a:ln w="0">
            <a:noFill/>
          </a:ln>
        </p:spPr>
      </p:pic>
      <p:sp>
        <p:nvSpPr>
          <p:cNvPr id="18"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pic>
        <p:nvPicPr>
          <p:cNvPr id="19" name="Google Shape;69;p17"/>
          <p:cNvPicPr/>
          <p:nvPr/>
        </p:nvPicPr>
        <p:blipFill>
          <a:blip r:embed="rId2">
            <a:alphaModFix amt="64000"/>
          </a:blip>
          <a:srcRect l="11021" r="13736" b="8153"/>
          <a:stretch/>
        </p:blipFill>
        <p:spPr>
          <a:xfrm rot="4050000">
            <a:off x="7011720" y="-2139120"/>
            <a:ext cx="6625800" cy="5777280"/>
          </a:xfrm>
          <a:prstGeom prst="rect">
            <a:avLst/>
          </a:prstGeom>
          <a:noFill/>
          <a:ln w="0">
            <a:noFill/>
          </a:ln>
        </p:spPr>
      </p:pic>
      <p:sp>
        <p:nvSpPr>
          <p:cNvPr id="20"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86000" y="212400"/>
            <a:ext cx="817128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22" name="Google Shape;79;p18"/>
          <p:cNvPicPr/>
          <p:nvPr/>
        </p:nvPicPr>
        <p:blipFill>
          <a:blip r:embed="rId2">
            <a:alphaModFix amt="64000"/>
          </a:blip>
          <a:srcRect l="11021" r="13736" b="8153"/>
          <a:stretch/>
        </p:blipFill>
        <p:spPr>
          <a:xfrm rot="4361400">
            <a:off x="5070240" y="2708640"/>
            <a:ext cx="6625800" cy="5777280"/>
          </a:xfrm>
          <a:prstGeom prst="rect">
            <a:avLst/>
          </a:prstGeom>
          <a:noFill/>
          <a:ln w="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12400"/>
            <a:ext cx="817128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24" name="Google Shape;94;p19"/>
          <p:cNvPicPr/>
          <p:nvPr/>
        </p:nvPicPr>
        <p:blipFill>
          <a:blip r:embed="rId2">
            <a:alphaModFix amt="64000"/>
          </a:blip>
          <a:srcRect l="11021" r="13736" b="8153"/>
          <a:stretch/>
        </p:blipFill>
        <p:spPr>
          <a:xfrm rot="11382600">
            <a:off x="5733360" y="-2468880"/>
            <a:ext cx="6625800" cy="577728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457560" y="535680"/>
            <a:ext cx="3417840" cy="754200"/>
          </a:xfrm>
          <a:prstGeom prst="rect">
            <a:avLst/>
          </a:prstGeom>
          <a:noFill/>
          <a:ln w="0">
            <a:noFill/>
          </a:ln>
        </p:spPr>
        <p:txBody>
          <a:bodyPr lIns="91440" tIns="91440" rIns="91440" bIns="91440" anchor="b">
            <a:noAutofit/>
          </a:bodyPr>
          <a:lstStyle/>
          <a:p>
            <a:pPr indent="0">
              <a:lnSpc>
                <a:spcPct val="100000"/>
              </a:lnSpc>
              <a:buNone/>
            </a:pPr>
            <a:r>
              <a:rPr lang="fr-FR" sz="4300" b="0" i="1" u="none" strike="noStrike">
                <a:solidFill>
                  <a:schemeClr val="dk1"/>
                </a:solidFill>
                <a:effectLst/>
                <a:uFillTx/>
                <a:latin typeface="Viaoda Libre"/>
                <a:ea typeface="Viaoda Libre"/>
              </a:rPr>
              <a:t>xx%</a:t>
            </a:r>
            <a:endParaRPr lang="fr-FR" sz="4300" b="0" u="none" strike="noStrike">
              <a:solidFill>
                <a:schemeClr val="dk1"/>
              </a:solidFill>
              <a:effectLst/>
              <a:uFillTx/>
              <a:latin typeface="Arial"/>
            </a:endParaRPr>
          </a:p>
        </p:txBody>
      </p:sp>
      <p:sp>
        <p:nvSpPr>
          <p:cNvPr id="26" name="PlaceHolder 2"/>
          <p:cNvSpPr>
            <a:spLocks noGrp="1"/>
          </p:cNvSpPr>
          <p:nvPr>
            <p:ph type="title"/>
          </p:nvPr>
        </p:nvSpPr>
        <p:spPr>
          <a:xfrm>
            <a:off x="5268600" y="3691080"/>
            <a:ext cx="3417840" cy="754200"/>
          </a:xfrm>
          <a:prstGeom prst="rect">
            <a:avLst/>
          </a:prstGeom>
          <a:noFill/>
          <a:ln w="0">
            <a:noFill/>
          </a:ln>
        </p:spPr>
        <p:txBody>
          <a:bodyPr lIns="91440" tIns="91440" rIns="91440" bIns="91440" anchor="b">
            <a:noAutofit/>
          </a:bodyPr>
          <a:lstStyle/>
          <a:p>
            <a:pPr indent="0" algn="r">
              <a:lnSpc>
                <a:spcPct val="100000"/>
              </a:lnSpc>
              <a:buNone/>
            </a:pPr>
            <a:r>
              <a:rPr lang="fr-FR" sz="4300" b="0" i="1" u="none" strike="noStrike">
                <a:solidFill>
                  <a:schemeClr val="dk1"/>
                </a:solidFill>
                <a:effectLst/>
                <a:uFillTx/>
                <a:latin typeface="Viaoda Libre"/>
                <a:ea typeface="Viaoda Libre"/>
              </a:rPr>
              <a:t>xx%</a:t>
            </a:r>
            <a:endParaRPr lang="fr-FR" sz="4300" b="0" u="none" strike="noStrike">
              <a:solidFill>
                <a:schemeClr val="dk1"/>
              </a:solidFill>
              <a:effectLst/>
              <a:uFillTx/>
              <a:latin typeface="Arial"/>
            </a:endParaRPr>
          </a:p>
        </p:txBody>
      </p:sp>
      <p:pic>
        <p:nvPicPr>
          <p:cNvPr id="27" name="Google Shape;100;p20"/>
          <p:cNvPicPr/>
          <p:nvPr/>
        </p:nvPicPr>
        <p:blipFill>
          <a:blip r:embed="rId2">
            <a:alphaModFix amt="64000"/>
          </a:blip>
          <a:srcRect l="11021" r="13736" b="8153"/>
          <a:stretch/>
        </p:blipFill>
        <p:spPr>
          <a:xfrm rot="20224800">
            <a:off x="-2000520" y="1667880"/>
            <a:ext cx="6625800" cy="57772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2478960" y="1791000"/>
            <a:ext cx="6207840" cy="2911680"/>
          </a:xfrm>
          <a:prstGeom prst="rect">
            <a:avLst/>
          </a:prstGeom>
          <a:noFill/>
          <a:ln w="0">
            <a:noFill/>
          </a:ln>
        </p:spPr>
        <p:txBody>
          <a:bodyPr lIns="91440" tIns="91440" rIns="91440" bIns="91440" anchor="b">
            <a:noAutofit/>
          </a:bodyPr>
          <a:lstStyle/>
          <a:p>
            <a:pPr indent="0">
              <a:buNone/>
            </a:pPr>
            <a:r>
              <a:rPr lang="fr-FR" sz="4800" b="0" u="none" strike="noStrike">
                <a:solidFill>
                  <a:schemeClr val="dk1"/>
                </a:solidFill>
                <a:effectLst/>
                <a:uFillTx/>
                <a:latin typeface="Arial"/>
              </a:rPr>
              <a:t>Click to edit the title text format</a:t>
            </a:r>
          </a:p>
        </p:txBody>
      </p:sp>
      <p:sp>
        <p:nvSpPr>
          <p:cNvPr id="29" name="PlaceHolder 2"/>
          <p:cNvSpPr>
            <a:spLocks noGrp="1"/>
          </p:cNvSpPr>
          <p:nvPr>
            <p:ph type="title"/>
          </p:nvPr>
        </p:nvSpPr>
        <p:spPr>
          <a:xfrm>
            <a:off x="457200" y="440280"/>
            <a:ext cx="1294920" cy="762840"/>
          </a:xfrm>
          <a:prstGeom prst="rect">
            <a:avLst/>
          </a:prstGeom>
          <a:noFill/>
          <a:ln w="0">
            <a:noFill/>
          </a:ln>
        </p:spPr>
        <p:txBody>
          <a:bodyPr lIns="91440" tIns="91440" rIns="91440" bIns="91440" anchor="ctr">
            <a:noAutofit/>
          </a:bodyPr>
          <a:lstStyle/>
          <a:p>
            <a:pPr indent="0">
              <a:lnSpc>
                <a:spcPct val="100000"/>
              </a:lnSpc>
              <a:buNone/>
            </a:pPr>
            <a:r>
              <a:rPr lang="fr-FR" sz="6500" b="0" i="1" u="none" strike="noStrike">
                <a:solidFill>
                  <a:schemeClr val="dk1"/>
                </a:solidFill>
                <a:effectLst/>
                <a:uFillTx/>
                <a:latin typeface="Viaoda Libre"/>
                <a:ea typeface="Viaoda Libre"/>
              </a:rPr>
              <a:t>xx%</a:t>
            </a:r>
            <a:endParaRPr lang="fr-FR" sz="6500" b="0" u="none" strike="noStrike">
              <a:solidFill>
                <a:schemeClr val="dk1"/>
              </a:solidFill>
              <a:effectLst/>
              <a:uFillTx/>
              <a:latin typeface="Arial"/>
            </a:endParaRPr>
          </a:p>
        </p:txBody>
      </p:sp>
      <p:pic>
        <p:nvPicPr>
          <p:cNvPr id="30" name="Google Shape;15;p3"/>
          <p:cNvPicPr/>
          <p:nvPr/>
        </p:nvPicPr>
        <p:blipFill>
          <a:blip r:embed="rId2">
            <a:alphaModFix amt="64000"/>
          </a:blip>
          <a:srcRect l="11021" r="13736" b="8153"/>
          <a:stretch/>
        </p:blipFill>
        <p:spPr>
          <a:xfrm rot="8601600">
            <a:off x="2378880" y="-4229280"/>
            <a:ext cx="8775720" cy="7652160"/>
          </a:xfrm>
          <a:prstGeom prst="rect">
            <a:avLst/>
          </a:prstGeom>
          <a:noFill/>
          <a:ln w="0">
            <a:noFill/>
          </a:ln>
        </p:spPr>
      </p:pic>
      <p:sp>
        <p:nvSpPr>
          <p:cNvPr id="3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3242880" y="456480"/>
            <a:ext cx="5443200" cy="1035720"/>
          </a:xfrm>
          <a:prstGeom prst="rect">
            <a:avLst/>
          </a:prstGeom>
          <a:noFill/>
          <a:ln w="0">
            <a:noFill/>
          </a:ln>
        </p:spPr>
        <p:txBody>
          <a:bodyPr lIns="91440" tIns="91440" rIns="91440" bIns="91440" anchor="b">
            <a:noAutofit/>
          </a:bodyPr>
          <a:lstStyle/>
          <a:p>
            <a:pPr indent="0">
              <a:buNone/>
            </a:pPr>
            <a:r>
              <a:rPr lang="fr-FR" sz="7400" b="0" u="none" strike="noStrike">
                <a:solidFill>
                  <a:schemeClr val="dk1"/>
                </a:solidFill>
                <a:effectLst/>
                <a:uFillTx/>
                <a:latin typeface="Arial"/>
              </a:rPr>
              <a:t>Click to edit the title text format</a:t>
            </a:r>
          </a:p>
        </p:txBody>
      </p:sp>
      <p:sp>
        <p:nvSpPr>
          <p:cNvPr id="33" name="Google Shape;104;p21"/>
          <p:cNvSpPr/>
          <p:nvPr/>
        </p:nvSpPr>
        <p:spPr>
          <a:xfrm>
            <a:off x="457200" y="3846960"/>
            <a:ext cx="5757120" cy="555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200" b="0" u="none" strike="noStrike">
                <a:solidFill>
                  <a:schemeClr val="dk1"/>
                </a:solidFill>
                <a:effectLst/>
                <a:uFillTx/>
                <a:latin typeface="Albert Sans"/>
                <a:ea typeface="Albert Sans"/>
              </a:rPr>
              <a:t>CREDITS: This presentation template was created by </a:t>
            </a:r>
            <a:r>
              <a:rPr lang="en" sz="1200" b="1" u="sng" strike="noStrike">
                <a:solidFill>
                  <a:schemeClr val="dk1"/>
                </a:solidFill>
                <a:effectLst/>
                <a:uFillTx/>
                <a:latin typeface="Albert Sans"/>
                <a:ea typeface="Albert Sans"/>
                <a:hlinkClick r:id="rId2"/>
              </a:rPr>
              <a:t>Slidesgo</a:t>
            </a:r>
            <a:r>
              <a:rPr lang="en" sz="1200" b="0" u="none" strike="noStrike">
                <a:solidFill>
                  <a:schemeClr val="dk1"/>
                </a:solidFill>
                <a:effectLst/>
                <a:uFillTx/>
                <a:latin typeface="Albert Sans"/>
                <a:ea typeface="Albert Sans"/>
              </a:rPr>
              <a:t>, and includes icons, infographics &amp; images by </a:t>
            </a:r>
            <a:r>
              <a:rPr lang="en" sz="1200" b="1" u="sng" strike="noStrike">
                <a:solidFill>
                  <a:schemeClr val="dk1"/>
                </a:solidFill>
                <a:effectLst/>
                <a:uFillTx/>
                <a:latin typeface="Albert Sans"/>
                <a:ea typeface="Albert Sans"/>
                <a:hlinkClick r:id="rId3"/>
              </a:rPr>
              <a:t>Freepik</a:t>
            </a:r>
            <a:r>
              <a:rPr lang="en" sz="1200" b="1" u="none" strike="noStrike">
                <a:solidFill>
                  <a:schemeClr val="dk1"/>
                </a:solidFill>
                <a:effectLst/>
                <a:uFillTx/>
                <a:latin typeface="Albert Sans"/>
                <a:ea typeface="Albert Sans"/>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4" name="PlaceHolder 1"/>
          <p:cNvSpPr>
            <a:spLocks noGrp="1"/>
          </p:cNvSpPr>
          <p:nvPr>
            <p:ph type="body"/>
          </p:nvPr>
        </p:nvSpPr>
        <p:spPr>
          <a:xfrm>
            <a:off x="457200" y="1221480"/>
            <a:ext cx="8233560" cy="13014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35"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12400"/>
            <a:ext cx="822924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37" name="Google Shape;25;p5"/>
          <p:cNvPicPr/>
          <p:nvPr/>
        </p:nvPicPr>
        <p:blipFill>
          <a:blip r:embed="rId2">
            <a:alphaModFix amt="64000"/>
          </a:blip>
          <a:srcRect l="11021" r="13736" b="8153"/>
          <a:stretch/>
        </p:blipFill>
        <p:spPr>
          <a:xfrm rot="2200200">
            <a:off x="-3751920" y="-381240"/>
            <a:ext cx="6625800" cy="577728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38" name="Google Shape;27;p6"/>
          <p:cNvPicPr/>
          <p:nvPr/>
        </p:nvPicPr>
        <p:blipFill>
          <a:blip r:embed="rId2">
            <a:alphaModFix amt="64000"/>
          </a:blip>
          <a:srcRect l="11021" r="13736" b="8153"/>
          <a:stretch/>
        </p:blipFill>
        <p:spPr>
          <a:xfrm rot="15790200">
            <a:off x="-1680840" y="-1717200"/>
            <a:ext cx="4467240" cy="3895200"/>
          </a:xfrm>
          <a:prstGeom prst="rect">
            <a:avLst/>
          </a:prstGeom>
          <a:noFill/>
          <a:ln w="0">
            <a:noFill/>
          </a:ln>
        </p:spPr>
      </p:pic>
      <p:sp>
        <p:nvSpPr>
          <p:cNvPr id="39"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body"/>
          </p:nvPr>
        </p:nvSpPr>
        <p:spPr>
          <a:xfrm>
            <a:off x="4053600" y="1704960"/>
            <a:ext cx="4512600" cy="2836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41"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5" name="PlaceHolder 2"/>
          <p:cNvSpPr>
            <a:spLocks noGrp="1"/>
          </p:cNvSpPr>
          <p:nvPr>
            <p:ph type="title"/>
          </p:nvPr>
        </p:nvSpPr>
        <p:spPr>
          <a:xfrm>
            <a:off x="469080" y="370800"/>
            <a:ext cx="2841480" cy="733680"/>
          </a:xfrm>
          <a:prstGeom prst="rect">
            <a:avLst/>
          </a:prstGeom>
          <a:solidFill>
            <a:schemeClr val="lt1"/>
          </a:solidFill>
          <a:ln w="0">
            <a:noFill/>
          </a:ln>
        </p:spPr>
        <p:txBody>
          <a:bodyPr lIns="91440" tIns="91440" rIns="91440" bIns="91440" anchor="t">
            <a:noAutofit/>
          </a:bodyPr>
          <a:lstStyle/>
          <a:p>
            <a:pPr indent="0">
              <a:buNone/>
            </a:pPr>
            <a:r>
              <a:rPr lang="fr-FR" sz="19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46" name="Google Shape;112;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48" name="Google Shape;115;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0"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subTitle"/>
          </p:nvPr>
        </p:nvSpPr>
        <p:spPr>
          <a:xfrm>
            <a:off x="457200" y="4390920"/>
            <a:ext cx="4219200" cy="380520"/>
          </a:xfrm>
          <a:prstGeom prst="rect">
            <a:avLst/>
          </a:prstGeom>
          <a:noFill/>
          <a:ln w="0">
            <a:noFill/>
          </a:ln>
        </p:spPr>
        <p:txBody>
          <a:bodyPr lIns="91440" tIns="91440" rIns="91440" bIns="91440" anchor="t">
            <a:normAutofit fontScale="92500" lnSpcReduction="19999"/>
          </a:bodyPr>
          <a:lstStyle/>
          <a:p>
            <a:pPr>
              <a:lnSpc>
                <a:spcPct val="100000"/>
              </a:lnSpc>
              <a:tabLst>
                <a:tab pos="0" algn="l"/>
              </a:tabLst>
            </a:pPr>
            <a:r>
              <a:rPr lang="en-US" sz="1600" b="0" u="none" strike="noStrike" dirty="0">
                <a:solidFill>
                  <a:srgbClr val="000000"/>
                </a:solidFill>
                <a:effectLst/>
                <a:uFillTx/>
                <a:latin typeface="OpenSymbol"/>
              </a:rPr>
              <a:t>DADS – JULY COHORT A</a:t>
            </a:r>
          </a:p>
        </p:txBody>
      </p:sp>
      <p:sp>
        <p:nvSpPr>
          <p:cNvPr id="52" name="PlaceHolder 2"/>
          <p:cNvSpPr>
            <a:spLocks noGrp="1"/>
          </p:cNvSpPr>
          <p:nvPr>
            <p:ph type="title"/>
          </p:nvPr>
        </p:nvSpPr>
        <p:spPr>
          <a:xfrm>
            <a:off x="457200" y="371520"/>
            <a:ext cx="7934040" cy="2428560"/>
          </a:xfrm>
          <a:prstGeom prst="rect">
            <a:avLst/>
          </a:prstGeom>
          <a:noFill/>
          <a:ln w="0">
            <a:noFill/>
          </a:ln>
        </p:spPr>
        <p:txBody>
          <a:bodyPr lIns="91440" tIns="91440" rIns="91440" bIns="91440" anchor="t">
            <a:normAutofit/>
          </a:bodyPr>
          <a:lstStyle/>
          <a:p>
            <a:pPr>
              <a:lnSpc>
                <a:spcPct val="100000"/>
              </a:lnSpc>
              <a:tabLst>
                <a:tab pos="0" algn="l"/>
              </a:tabLst>
            </a:pPr>
            <a:r>
              <a:rPr lang="en-IN" dirty="0"/>
              <a:t>Laptop Market Intelligence System for Price Segmentation Using Machine Learning</a:t>
            </a:r>
            <a:endParaRPr lang="fr-FR" sz="5400" b="0" u="none" strike="noStrike" dirty="0">
              <a:solidFill>
                <a:schemeClr val="dk1"/>
              </a:solidFill>
              <a:effectLst/>
              <a:uFillTx/>
              <a:latin typeface="Arial"/>
            </a:endParaRPr>
          </a:p>
        </p:txBody>
      </p:sp>
      <p:sp>
        <p:nvSpPr>
          <p:cNvPr id="5" name="TextBox 4">
            <a:extLst>
              <a:ext uri="{FF2B5EF4-FFF2-40B4-BE49-F238E27FC236}">
                <a16:creationId xmlns:a16="http://schemas.microsoft.com/office/drawing/2014/main" id="{B220EEEA-2577-8179-0454-5F1949F5D722}"/>
              </a:ext>
            </a:extLst>
          </p:cNvPr>
          <p:cNvSpPr txBox="1"/>
          <p:nvPr/>
        </p:nvSpPr>
        <p:spPr>
          <a:xfrm>
            <a:off x="457200" y="4021588"/>
            <a:ext cx="5231566"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S. KRISHNA KUMAR</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PlaceHolder 2"/>
          <p:cNvSpPr>
            <a:spLocks noGrp="1"/>
          </p:cNvSpPr>
          <p:nvPr>
            <p:ph type="title"/>
          </p:nvPr>
        </p:nvSpPr>
        <p:spPr>
          <a:xfrm>
            <a:off x="630936" y="274320"/>
            <a:ext cx="7886700" cy="994410"/>
          </a:xfrm>
        </p:spPr>
        <p:txBody>
          <a:bodyPr lIns="91440" tIns="91440" rIns="91440" bIns="91440" anchor="ctr">
            <a:normAutofit/>
          </a:bodyPr>
          <a:lstStyle/>
          <a:p>
            <a:pPr indent="0">
              <a:buNone/>
              <a:tabLst>
                <a:tab pos="0" algn="l"/>
              </a:tabLst>
            </a:pPr>
            <a:r>
              <a:rPr lang="en-US" sz="3300" b="0" u="none" strike="noStrike">
                <a:solidFill>
                  <a:schemeClr val="dk1"/>
                </a:solidFill>
                <a:effectLst/>
                <a:uFillTx/>
              </a:rPr>
              <a:t>Introduction</a:t>
            </a:r>
            <a:endParaRPr lang="fr-FR" sz="3300" b="0" u="none" strike="noStrike">
              <a:solidFill>
                <a:schemeClr val="dk1"/>
              </a:solidFill>
              <a:effectLst/>
              <a:uFillTx/>
            </a:endParaRPr>
          </a:p>
        </p:txBody>
      </p:sp>
      <p:sp>
        <p:nvSpPr>
          <p:cNvPr id="53" name="PlaceHolder 1"/>
          <p:cNvSpPr>
            <a:spLocks noGrp="1"/>
          </p:cNvSpPr>
          <p:nvPr>
            <p:ph idx="4294967295"/>
          </p:nvPr>
        </p:nvSpPr>
        <p:spPr>
          <a:xfrm>
            <a:off x="630936" y="1459230"/>
            <a:ext cx="3752850" cy="3264408"/>
          </a:xfrm>
          <a:prstGeom prst="rect">
            <a:avLst/>
          </a:prstGeom>
          <a:noFill/>
          <a:ln w="0">
            <a:noFill/>
          </a:ln>
        </p:spPr>
        <p:txBody>
          <a:bodyPr lIns="91440" tIns="91440" rIns="91440" bIns="91440" anchor="t">
            <a:normAutofit/>
          </a:bodyPr>
          <a:lstStyle/>
          <a:p>
            <a:pPr marL="0" indent="0">
              <a:buNone/>
              <a:tabLst>
                <a:tab pos="0" algn="l"/>
              </a:tabLst>
            </a:pPr>
            <a:r>
              <a:rPr lang="en-US" sz="1400" b="0" u="none" strike="noStrike" kern="1200">
                <a:solidFill>
                  <a:schemeClr val="dk1"/>
                </a:solidFill>
                <a:effectLst/>
                <a:uFillTx/>
              </a:rPr>
              <a:t>The laptop market is rapidly growing with diverse configurations, creating challenges in understanding market positioning based on specifications. This project addresses the need for </a:t>
            </a:r>
            <a:r>
              <a:rPr lang="en-US" sz="1400" b="1" u="none" strike="noStrike" kern="1200">
                <a:solidFill>
                  <a:schemeClr val="dk1"/>
                </a:solidFill>
                <a:effectLst/>
                <a:uFillTx/>
              </a:rPr>
              <a:t>data-driven pricing and segmentation</a:t>
            </a:r>
            <a:r>
              <a:rPr lang="en-US" sz="1400" b="0" u="none" strike="noStrike" kern="1200">
                <a:solidFill>
                  <a:schemeClr val="dk1"/>
                </a:solidFill>
                <a:effectLst/>
                <a:uFillTx/>
              </a:rPr>
              <a:t>, applying machine learning techniques on real-world e-commerce data to provide actionable insights for both buyers and sellers.</a:t>
            </a:r>
          </a:p>
        </p:txBody>
      </p:sp>
      <p:pic>
        <p:nvPicPr>
          <p:cNvPr id="55" name="Google Shape;184;p31"/>
          <p:cNvPicPr/>
          <p:nvPr/>
        </p:nvPicPr>
        <p:blipFill>
          <a:blip r:embed="rId2"/>
          <a:srcRect l="14882" r="18151" b="-2"/>
          <a:stretch>
            <a:fillRect/>
          </a:stretch>
        </p:blipFill>
        <p:spPr>
          <a:xfrm>
            <a:off x="4764786" y="1459230"/>
            <a:ext cx="3752850" cy="3264408"/>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515160" y="212400"/>
            <a:ext cx="8113320" cy="644400"/>
          </a:xfrm>
        </p:spPr>
        <p:txBody>
          <a:bodyPr lIns="91440" tIns="91440" rIns="91440" bIns="91440" anchor="t">
            <a:normAutofit/>
          </a:bodyPr>
          <a:lstStyle/>
          <a:p>
            <a:pPr indent="0">
              <a:buNone/>
              <a:tabLst>
                <a:tab pos="0" algn="l"/>
              </a:tabLst>
            </a:pPr>
            <a:r>
              <a:rPr lang="en-US" sz="3300" b="0" u="none" strike="noStrike">
                <a:solidFill>
                  <a:schemeClr val="dk1"/>
                </a:solidFill>
                <a:effectLst/>
                <a:uFillTx/>
              </a:rPr>
              <a:t>Laptop market growth and</a:t>
            </a:r>
            <a:r>
              <a:rPr lang="en-US" sz="3300" b="0" i="1" u="none" strike="noStrike">
                <a:solidFill>
                  <a:schemeClr val="dk1"/>
                </a:solidFill>
                <a:effectLst/>
                <a:uFillTx/>
              </a:rPr>
              <a:t> challenges</a:t>
            </a:r>
            <a:endParaRPr lang="fr-FR" sz="3300" b="0" u="none" strike="noStrike">
              <a:solidFill>
                <a:schemeClr val="dk1"/>
              </a:solidFill>
              <a:effectLst/>
              <a:uFillTx/>
            </a:endParaRPr>
          </a:p>
        </p:txBody>
      </p:sp>
      <p:sp>
        <p:nvSpPr>
          <p:cNvPr id="59" name="PlaceHolder 2"/>
          <p:cNvSpPr>
            <a:spLocks noGrp="1"/>
          </p:cNvSpPr>
          <p:nvPr>
            <p:ph type="subTitle" idx="4294967295"/>
          </p:nvPr>
        </p:nvSpPr>
        <p:spPr>
          <a:xfrm>
            <a:off x="923760" y="1247760"/>
            <a:ext cx="7295760" cy="18856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expanding laptop market presents difficulty for consumers to assess value and for sellers to price competitively. Diverse specifications and price fluctuations hinder clear market understanding, necessitating an analytical approach to segment laptops effectively by price categories for improved decision-making.</a:t>
            </a:r>
            <a:endParaRPr lang="en-US" sz="14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2"/>
          <p:cNvSpPr>
            <a:spLocks noGrp="1"/>
          </p:cNvSpPr>
          <p:nvPr>
            <p:ph type="title"/>
          </p:nvPr>
        </p:nvSpPr>
        <p:spPr>
          <a:xfrm>
            <a:off x="630936" y="274320"/>
            <a:ext cx="7886700" cy="994410"/>
          </a:xfrm>
        </p:spPr>
        <p:txBody>
          <a:bodyPr lIns="91440" tIns="91440" rIns="91440" bIns="91440" anchor="ctr">
            <a:normAutofit/>
          </a:bodyPr>
          <a:lstStyle/>
          <a:p>
            <a:pPr indent="0">
              <a:buNone/>
              <a:tabLst>
                <a:tab pos="0" algn="l"/>
              </a:tabLst>
            </a:pPr>
            <a:r>
              <a:rPr lang="en-US" sz="3100" b="0" u="none" strike="noStrike">
                <a:solidFill>
                  <a:schemeClr val="dk1"/>
                </a:solidFill>
                <a:effectLst/>
                <a:uFillTx/>
              </a:rPr>
              <a:t>Need for data-driven pricing</a:t>
            </a:r>
            <a:r>
              <a:rPr lang="en-US" sz="3100" b="0" i="1" u="none" strike="noStrike">
                <a:solidFill>
                  <a:schemeClr val="dk1"/>
                </a:solidFill>
                <a:effectLst/>
                <a:uFillTx/>
              </a:rPr>
              <a:t> segmentation</a:t>
            </a:r>
            <a:endParaRPr lang="fr-FR" sz="3100" b="0" u="none" strike="noStrike">
              <a:solidFill>
                <a:schemeClr val="dk1"/>
              </a:solidFill>
              <a:effectLst/>
              <a:uFillTx/>
            </a:endParaRPr>
          </a:p>
        </p:txBody>
      </p:sp>
      <p:sp>
        <p:nvSpPr>
          <p:cNvPr id="60" name="PlaceHolder 1"/>
          <p:cNvSpPr>
            <a:spLocks noGrp="1"/>
          </p:cNvSpPr>
          <p:nvPr>
            <p:ph idx="4294967295"/>
          </p:nvPr>
        </p:nvSpPr>
        <p:spPr>
          <a:xfrm>
            <a:off x="630936" y="1459230"/>
            <a:ext cx="3752850" cy="3264408"/>
          </a:xfrm>
          <a:prstGeom prst="rect">
            <a:avLst/>
          </a:prstGeom>
          <a:noFill/>
          <a:ln w="0">
            <a:noFill/>
          </a:ln>
        </p:spPr>
        <p:txBody>
          <a:bodyPr lIns="91440" tIns="91440" rIns="91440" bIns="91440" anchor="t">
            <a:normAutofit/>
          </a:bodyPr>
          <a:lstStyle/>
          <a:p>
            <a:pPr marL="0" indent="0">
              <a:buNone/>
              <a:tabLst>
                <a:tab pos="0" algn="l"/>
              </a:tabLst>
            </a:pPr>
            <a:r>
              <a:rPr lang="en-US" sz="1400" b="0" u="none" strike="noStrike" kern="1200">
                <a:solidFill>
                  <a:schemeClr val="dk1"/>
                </a:solidFill>
                <a:effectLst/>
                <a:uFillTx/>
              </a:rPr>
              <a:t>Manual pricing evaluations are inefficient and inconsistent. Implementing data-driven </a:t>
            </a:r>
            <a:r>
              <a:rPr lang="en-US" sz="1400" b="1" u="none" strike="noStrike" kern="1200">
                <a:solidFill>
                  <a:schemeClr val="dk1"/>
                </a:solidFill>
                <a:effectLst/>
                <a:uFillTx/>
              </a:rPr>
              <a:t>price segmentation</a:t>
            </a:r>
            <a:r>
              <a:rPr lang="en-US" sz="1400" b="0" u="none" strike="noStrike" kern="1200">
                <a:solidFill>
                  <a:schemeClr val="dk1"/>
                </a:solidFill>
                <a:effectLst/>
                <a:uFillTx/>
              </a:rPr>
              <a:t> supports objective classification of laptops based on technical and market features, enabling transparent and dynamic pricing strategies that reflect real market demand patterns.</a:t>
            </a:r>
          </a:p>
        </p:txBody>
      </p:sp>
      <p:pic>
        <p:nvPicPr>
          <p:cNvPr id="62" name="Google Shape;184;p31"/>
          <p:cNvPicPr/>
          <p:nvPr/>
        </p:nvPicPr>
        <p:blipFill>
          <a:blip r:embed="rId2"/>
          <a:srcRect l="11418" r="21614" b="-2"/>
          <a:stretch>
            <a:fillRect/>
          </a:stretch>
        </p:blipFill>
        <p:spPr>
          <a:xfrm>
            <a:off x="4764786" y="1459230"/>
            <a:ext cx="3752850" cy="3264408"/>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2"/>
          <p:cNvSpPr>
            <a:spLocks noGrp="1"/>
          </p:cNvSpPr>
          <p:nvPr>
            <p:ph type="title"/>
          </p:nvPr>
        </p:nvSpPr>
        <p:spPr>
          <a:xfrm>
            <a:off x="172386" y="307298"/>
            <a:ext cx="4242216" cy="642505"/>
          </a:xfrm>
          <a:prstGeom prst="rect">
            <a:avLst/>
          </a:prstGeom>
          <a:noFill/>
          <a:ln w="0">
            <a:noFill/>
          </a:ln>
        </p:spPr>
        <p:txBody>
          <a:bodyPr lIns="91440" tIns="91440" rIns="91440" bIns="91440" anchor="b">
            <a:normAutofit fontScale="90000"/>
          </a:bodyPr>
          <a:lstStyle/>
          <a:p>
            <a:pPr algn="r">
              <a:lnSpc>
                <a:spcPct val="100000"/>
              </a:lnSpc>
              <a:tabLst>
                <a:tab pos="0" algn="l"/>
              </a:tabLst>
            </a:pPr>
            <a:r>
              <a:rPr lang="en-US" sz="4800" b="0" u="none" strike="noStrike">
                <a:solidFill>
                  <a:schemeClr val="dk1"/>
                </a:solidFill>
                <a:effectLst/>
                <a:uFillTx/>
                <a:latin typeface="Viaoda Libre"/>
                <a:ea typeface="Viaoda Libre"/>
              </a:rPr>
              <a:t>Project Objectives</a:t>
            </a:r>
            <a:endParaRPr lang="fr-FR" sz="4800" b="0" u="none" strike="noStrike" dirty="0">
              <a:solidFill>
                <a:schemeClr val="dk1"/>
              </a:solidFill>
              <a:effectLst/>
              <a:uFillTx/>
              <a:latin typeface="Arial"/>
            </a:endParaRPr>
          </a:p>
        </p:txBody>
      </p:sp>
      <p:sp>
        <p:nvSpPr>
          <p:cNvPr id="5" name="TextBox 4">
            <a:extLst>
              <a:ext uri="{FF2B5EF4-FFF2-40B4-BE49-F238E27FC236}">
                <a16:creationId xmlns:a16="http://schemas.microsoft.com/office/drawing/2014/main" id="{D400AC39-8C75-02F8-3FB8-E3D67F5A170A}"/>
              </a:ext>
            </a:extLst>
          </p:cNvPr>
          <p:cNvSpPr txBox="1"/>
          <p:nvPr/>
        </p:nvSpPr>
        <p:spPr>
          <a:xfrm>
            <a:off x="412231" y="1084714"/>
            <a:ext cx="8424471" cy="3539430"/>
          </a:xfrm>
          <a:prstGeom prst="rect">
            <a:avLst/>
          </a:prstGeom>
          <a:noFill/>
        </p:spPr>
        <p:txBody>
          <a:bodyPr wrap="square">
            <a:spAutoFit/>
          </a:bodyPr>
          <a:lstStyle/>
          <a:p>
            <a:r>
              <a:rPr lang="en-US" sz="1400" b="1" dirty="0">
                <a:solidFill>
                  <a:srgbClr val="03141F"/>
                </a:solidFill>
                <a:latin typeface="Helvetica World Bold" panose="020B0604020202020204" charset="-128"/>
                <a:ea typeface="Helvetica World Bold" panose="020B0604020202020204" charset="-128"/>
                <a:cs typeface="Helvetica World Bold" panose="020B0604020202020204" charset="-128"/>
                <a:sym typeface="Helvetica World Bold"/>
              </a:rPr>
              <a:t>Data Collection and Preparation:</a:t>
            </a:r>
            <a:br>
              <a:rPr lang="en-US" sz="1400" b="1" dirty="0">
                <a:solidFill>
                  <a:srgbClr val="03141F"/>
                </a:solidFill>
                <a:latin typeface="Helvetica World Bold" panose="020B0604020202020204" charset="-128"/>
                <a:ea typeface="Helvetica World Bold" panose="020B0604020202020204" charset="-128"/>
                <a:cs typeface="Helvetica World Bold" panose="020B0604020202020204" charset="-128"/>
                <a:sym typeface="Helvetica World Bold"/>
              </a:rPr>
            </a:br>
            <a:r>
              <a:rPr lang="en-US" sz="1400" dirty="0">
                <a:latin typeface="Helvetica World" panose="020B0604020202020204" charset="-128"/>
                <a:ea typeface="Helvetica World" panose="020B0604020202020204" charset="-128"/>
                <a:cs typeface="Helvetica World" panose="020B0604020202020204" charset="-128"/>
              </a:rPr>
              <a:t>The project aims to collect, clean, and preprocess laptop specification and pricing data to build a reliable dataset for analysis and modeling.</a:t>
            </a:r>
          </a:p>
          <a:p>
            <a:endParaRPr lang="en-US" sz="1400" dirty="0">
              <a:latin typeface="Helvetica World" panose="020B0604020202020204" charset="-128"/>
              <a:ea typeface="Helvetica World" panose="020B0604020202020204" charset="-128"/>
              <a:cs typeface="Helvetica World" panose="020B0604020202020204" charset="-128"/>
            </a:endParaRPr>
          </a:p>
          <a:p>
            <a:r>
              <a:rPr lang="en-IN" sz="1400" b="1" dirty="0">
                <a:latin typeface="Helvetica World Bold" panose="020B0604020202020204" charset="-128"/>
                <a:ea typeface="Helvetica World Bold" panose="020B0604020202020204" charset="-128"/>
                <a:cs typeface="Helvetica World Bold" panose="020B0604020202020204" charset="-128"/>
              </a:rPr>
              <a:t>Price Prediction:</a:t>
            </a:r>
          </a:p>
          <a:p>
            <a:r>
              <a:rPr lang="en-US" sz="1400" dirty="0">
                <a:solidFill>
                  <a:srgbClr val="03141F"/>
                </a:solidFill>
                <a:latin typeface="Helvetica World"/>
                <a:ea typeface="Helvetica World"/>
                <a:cs typeface="Helvetica World"/>
                <a:sym typeface="Helvetica World"/>
              </a:rPr>
              <a:t>Using supervised machine learning techniques, the objective is to predict laptop price categories based on key features such as RAM, storage, processor, and brand.</a:t>
            </a:r>
          </a:p>
          <a:p>
            <a:endParaRPr lang="en-US" sz="1400" dirty="0">
              <a:latin typeface="Helvetica World" panose="020B0604020202020204" charset="-128"/>
              <a:ea typeface="Helvetica World" panose="020B0604020202020204" charset="-128"/>
              <a:cs typeface="Helvetica World" panose="020B0604020202020204" charset="-128"/>
            </a:endParaRPr>
          </a:p>
          <a:p>
            <a:r>
              <a:rPr lang="en-US" sz="1400" b="1" dirty="0">
                <a:solidFill>
                  <a:srgbClr val="03141F"/>
                </a:solidFill>
                <a:latin typeface="Helvetica World Bold"/>
                <a:ea typeface="Helvetica World Bold"/>
                <a:cs typeface="Helvetica World Bold"/>
                <a:sym typeface="Helvetica World Bold"/>
              </a:rPr>
              <a:t>Product Segmentation:</a:t>
            </a:r>
          </a:p>
          <a:p>
            <a:r>
              <a:rPr lang="en-US" sz="1400" dirty="0">
                <a:solidFill>
                  <a:srgbClr val="03141F"/>
                </a:solidFill>
                <a:latin typeface="Helvetica World"/>
                <a:ea typeface="Helvetica World"/>
                <a:cs typeface="Helvetica World"/>
                <a:sym typeface="Helvetica World"/>
              </a:rPr>
              <a:t>Using unsupervised clustering techniques, the project identifies distinct laptop segments based on similarities in specifications and pricing.</a:t>
            </a:r>
          </a:p>
          <a:p>
            <a:endParaRPr lang="en-US" sz="1400" dirty="0">
              <a:latin typeface="Helvetica World" panose="020B0604020202020204" charset="-128"/>
              <a:ea typeface="Helvetica World" panose="020B0604020202020204" charset="-128"/>
              <a:cs typeface="Helvetica World" panose="020B0604020202020204" charset="-128"/>
            </a:endParaRPr>
          </a:p>
          <a:p>
            <a:r>
              <a:rPr lang="en-US" sz="1400" b="1" dirty="0">
                <a:latin typeface="Helvetica World Bold" panose="020B0604020202020204" charset="-128"/>
                <a:ea typeface="Helvetica World Bold" panose="020B0604020202020204" charset="-128"/>
                <a:cs typeface="Helvetica World Bold" panose="020B0604020202020204" charset="-128"/>
              </a:rPr>
              <a:t>Model Evaluation:</a:t>
            </a:r>
          </a:p>
          <a:p>
            <a:r>
              <a:rPr lang="en-US" sz="1400" dirty="0">
                <a:latin typeface="Helvetica World "/>
                <a:ea typeface="Helvetica World Bold" panose="020B0604020202020204" charset="-128"/>
                <a:cs typeface="Helvetica World Bold" panose="020B0604020202020204" charset="-128"/>
              </a:rPr>
              <a:t>To evaluate and compare multiple machine learning models in order to select the best-performing model for accurate prediction and analysis.</a:t>
            </a:r>
          </a:p>
          <a:p>
            <a:endParaRPr lang="en-US" sz="1400" dirty="0">
              <a:latin typeface="Helvetica World" panose="020B0604020202020204" charset="-128"/>
              <a:ea typeface="Helvetica World" panose="020B0604020202020204" charset="-128"/>
              <a:cs typeface="Helvetica World" panose="020B060402020202020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515160" y="212400"/>
            <a:ext cx="8113320" cy="644400"/>
          </a:xfrm>
        </p:spPr>
        <p:txBody>
          <a:bodyPr lIns="91440" tIns="91440" rIns="91440" bIns="91440" anchor="t">
            <a:normAutofit/>
          </a:bodyPr>
          <a:lstStyle/>
          <a:p>
            <a:pPr indent="0">
              <a:buNone/>
              <a:tabLst>
                <a:tab pos="0" algn="l"/>
              </a:tabLst>
            </a:pPr>
            <a:r>
              <a:rPr lang="en-US" sz="3300" b="0" u="none" strike="noStrike">
                <a:solidFill>
                  <a:schemeClr val="dk1"/>
                </a:solidFill>
                <a:effectLst/>
                <a:uFillTx/>
              </a:rPr>
              <a:t>Objective of machine learning</a:t>
            </a:r>
            <a:r>
              <a:rPr lang="en-US" sz="3300" b="0" i="1" u="none" strike="noStrike">
                <a:solidFill>
                  <a:schemeClr val="dk1"/>
                </a:solidFill>
                <a:effectLst/>
                <a:uFillTx/>
              </a:rPr>
              <a:t> application</a:t>
            </a:r>
            <a:endParaRPr lang="fr-FR" sz="3300" b="0" u="none" strike="noStrike">
              <a:solidFill>
                <a:schemeClr val="dk1"/>
              </a:solidFill>
              <a:effectLst/>
              <a:uFillTx/>
            </a:endParaRPr>
          </a:p>
        </p:txBody>
      </p:sp>
      <p:sp>
        <p:nvSpPr>
          <p:cNvPr id="64" name="PlaceHolder 2"/>
          <p:cNvSpPr>
            <a:spLocks noGrp="1"/>
          </p:cNvSpPr>
          <p:nvPr>
            <p:ph type="subTitle" idx="4294967295"/>
          </p:nvPr>
        </p:nvSpPr>
        <p:spPr>
          <a:xfrm>
            <a:off x="515161" y="935103"/>
            <a:ext cx="8113320" cy="1718156"/>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dirty="0">
                <a:solidFill>
                  <a:schemeClr val="dk1"/>
                </a:solidFill>
                <a:effectLst/>
                <a:uFillTx/>
                <a:latin typeface="Albert Sans"/>
                <a:ea typeface="Albert Sans"/>
              </a:rPr>
              <a:t>The aim is to leverage machine learning to identify natural market segments through clustering and develop a supervised model to accurately predict laptop price categories. This approach enables an automated, scalable pricing intelligence system for enhanced market analysis.</a:t>
            </a:r>
            <a:endParaRPr lang="en-US" sz="1400" b="0" u="none" strike="noStrike" dirty="0">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2"/>
          <p:cNvSpPr>
            <a:spLocks noGrp="1"/>
          </p:cNvSpPr>
          <p:nvPr>
            <p:ph type="title"/>
          </p:nvPr>
        </p:nvSpPr>
        <p:spPr>
          <a:xfrm>
            <a:off x="2476440" y="1790640"/>
            <a:ext cx="6210000" cy="29142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4800" b="0" u="none" strike="noStrike">
                <a:solidFill>
                  <a:schemeClr val="dk1"/>
                </a:solidFill>
                <a:effectLst/>
                <a:uFillTx/>
                <a:latin typeface="Viaoda Libre"/>
                <a:ea typeface="Viaoda Libre"/>
              </a:rPr>
              <a:t>Data Handling</a:t>
            </a:r>
            <a:endParaRPr lang="fr-FR" sz="48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p:nvPr>
        </p:nvSpPr>
        <p:spPr>
          <a:xfrm>
            <a:off x="847800" y="1200240"/>
            <a:ext cx="4619160" cy="21045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Albert Sans"/>
                <a:ea typeface="Albert Sans"/>
              </a:rPr>
              <a:t>Data was collected via web scraping of Flipkart laptop listings, including specifications, pricing, discounts, and user reviews. This real-world, unstructured data forms the basis for analysis, capturing a wide range of products across different brands and price points.</a:t>
            </a:r>
            <a:endParaRPr lang="fr-FR" sz="1400" b="0" u="none" strike="noStrike">
              <a:solidFill>
                <a:srgbClr val="000000"/>
              </a:solidFill>
              <a:effectLst/>
              <a:uFillTx/>
              <a:latin typeface="Arial"/>
            </a:endParaRPr>
          </a:p>
        </p:txBody>
      </p:sp>
      <p:sp>
        <p:nvSpPr>
          <p:cNvPr id="68" name="PlaceHolder 2"/>
          <p:cNvSpPr>
            <a:spLocks noGrp="1"/>
          </p:cNvSpPr>
          <p:nvPr>
            <p:ph type="title"/>
          </p:nvPr>
        </p:nvSpPr>
        <p:spPr>
          <a:xfrm>
            <a:off x="514440" y="209520"/>
            <a:ext cx="8115120" cy="64728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Data collection from Flipkart via web</a:t>
            </a:r>
            <a:r>
              <a:rPr lang="en-US" sz="3300" b="0" i="1" u="none" strike="noStrike">
                <a:solidFill>
                  <a:schemeClr val="dk1"/>
                </a:solidFill>
                <a:effectLst/>
                <a:uFillTx/>
                <a:latin typeface="Viaoda Libre"/>
                <a:ea typeface="Viaoda Libre"/>
              </a:rPr>
              <a:t> scraping</a:t>
            </a:r>
            <a:endParaRPr lang="fr-FR" sz="3300" b="0" u="none" strike="noStrike">
              <a:solidFill>
                <a:schemeClr val="dk1"/>
              </a:solidFill>
              <a:effectLst/>
              <a:uFillTx/>
              <a:latin typeface="Arial"/>
            </a:endParaRPr>
          </a:p>
        </p:txBody>
      </p:sp>
      <p:pic>
        <p:nvPicPr>
          <p:cNvPr id="69" name="Google Shape;184;p31"/>
          <p:cNvPicPr/>
          <p:nvPr/>
        </p:nvPicPr>
        <p:blipFill>
          <a:blip r:embed="rId2"/>
          <a:srcRect l="20913" r="40199" b="19910"/>
          <a:stretch/>
        </p:blipFill>
        <p:spPr>
          <a:xfrm>
            <a:off x="5782680" y="1249560"/>
            <a:ext cx="3360960" cy="389376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14759-5A07-8E43-16BA-55FD5043C866}"/>
            </a:ext>
          </a:extLst>
        </p:cNvPr>
        <p:cNvGrpSpPr/>
        <p:nvPr/>
      </p:nvGrpSpPr>
      <p:grpSpPr>
        <a:xfrm>
          <a:off x="0" y="0"/>
          <a:ext cx="0" cy="0"/>
          <a:chOff x="0" y="0"/>
          <a:chExt cx="0" cy="0"/>
        </a:xfrm>
      </p:grpSpPr>
      <p:sp>
        <p:nvSpPr>
          <p:cNvPr id="68" name="PlaceHolder 2">
            <a:extLst>
              <a:ext uri="{FF2B5EF4-FFF2-40B4-BE49-F238E27FC236}">
                <a16:creationId xmlns:a16="http://schemas.microsoft.com/office/drawing/2014/main" id="{D4FCDABA-7D54-EB76-83C6-46E05BD6DAEC}"/>
              </a:ext>
            </a:extLst>
          </p:cNvPr>
          <p:cNvSpPr>
            <a:spLocks noGrp="1"/>
          </p:cNvSpPr>
          <p:nvPr>
            <p:ph type="title"/>
          </p:nvPr>
        </p:nvSpPr>
        <p:spPr>
          <a:xfrm>
            <a:off x="514440" y="209520"/>
            <a:ext cx="8115120" cy="64728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300" b="0" u="none" strike="noStrike" dirty="0">
                <a:solidFill>
                  <a:schemeClr val="dk1"/>
                </a:solidFill>
                <a:effectLst/>
                <a:uFillTx/>
                <a:latin typeface="Viaoda Libre"/>
                <a:ea typeface="Viaoda Libre"/>
              </a:rPr>
              <a:t>Data collection from Flipkart via web</a:t>
            </a:r>
            <a:r>
              <a:rPr lang="en-US" sz="3300" b="0" i="1" u="none" strike="noStrike" dirty="0">
                <a:solidFill>
                  <a:schemeClr val="dk1"/>
                </a:solidFill>
                <a:effectLst/>
                <a:uFillTx/>
                <a:latin typeface="Viaoda Libre"/>
                <a:ea typeface="Viaoda Libre"/>
              </a:rPr>
              <a:t> scraping</a:t>
            </a:r>
            <a:endParaRPr lang="fr-FR" sz="3300" b="0" u="none" strike="noStrike" dirty="0">
              <a:solidFill>
                <a:schemeClr val="dk1"/>
              </a:solidFill>
              <a:effectLst/>
              <a:uFillTx/>
              <a:latin typeface="Arial"/>
            </a:endParaRPr>
          </a:p>
        </p:txBody>
      </p:sp>
      <p:pic>
        <p:nvPicPr>
          <p:cNvPr id="5" name="Picture 4">
            <a:extLst>
              <a:ext uri="{FF2B5EF4-FFF2-40B4-BE49-F238E27FC236}">
                <a16:creationId xmlns:a16="http://schemas.microsoft.com/office/drawing/2014/main" id="{C786F53C-D1C4-8086-765A-76AE61A4CD79}"/>
              </a:ext>
            </a:extLst>
          </p:cNvPr>
          <p:cNvPicPr>
            <a:picLocks noChangeAspect="1"/>
          </p:cNvPicPr>
          <p:nvPr/>
        </p:nvPicPr>
        <p:blipFill>
          <a:blip r:embed="rId2"/>
          <a:stretch>
            <a:fillRect/>
          </a:stretch>
        </p:blipFill>
        <p:spPr>
          <a:xfrm>
            <a:off x="303683" y="1221697"/>
            <a:ext cx="8536634" cy="29553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30299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682053" y="637425"/>
            <a:ext cx="7600013" cy="4476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300" b="0" u="none" strike="noStrike" dirty="0">
                <a:solidFill>
                  <a:schemeClr val="dk1"/>
                </a:solidFill>
                <a:effectLst/>
                <a:uFillTx/>
                <a:latin typeface="Viaoda Libre"/>
                <a:ea typeface="Viaoda Libre"/>
              </a:rPr>
              <a:t>Data cleaning and preprocessing</a:t>
            </a:r>
            <a:r>
              <a:rPr lang="en-US" sz="3300" b="0" i="1" u="none" strike="noStrike" dirty="0">
                <a:solidFill>
                  <a:schemeClr val="dk1"/>
                </a:solidFill>
                <a:effectLst/>
                <a:uFillTx/>
                <a:latin typeface="Viaoda Libre"/>
                <a:ea typeface="Viaoda Libre"/>
              </a:rPr>
              <a:t> techniques</a:t>
            </a:r>
            <a:endParaRPr lang="fr-FR" sz="3300" b="0" u="none" strike="noStrike" dirty="0">
              <a:solidFill>
                <a:schemeClr val="dk1"/>
              </a:solidFill>
              <a:effectLst/>
              <a:uFillTx/>
              <a:latin typeface="Arial"/>
            </a:endParaRPr>
          </a:p>
        </p:txBody>
      </p:sp>
      <p:sp>
        <p:nvSpPr>
          <p:cNvPr id="71" name="PlaceHolder 2"/>
          <p:cNvSpPr>
            <a:spLocks noGrp="1"/>
          </p:cNvSpPr>
          <p:nvPr>
            <p:ph type="subTitle"/>
          </p:nvPr>
        </p:nvSpPr>
        <p:spPr>
          <a:xfrm>
            <a:off x="923760" y="1247760"/>
            <a:ext cx="7295760" cy="18856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dataset underwent cleaning by imputing missing values and standardizing units of measurement. Inconsistent records were removed, and categorical variables were encoded for modeling. These preprocessing steps ensured data consistency and reliability for subsequent machine learning tasks.</a:t>
            </a:r>
            <a:endParaRPr lang="en-US" sz="14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515160" y="212400"/>
            <a:ext cx="8113320" cy="644400"/>
          </a:xfrm>
        </p:spPr>
        <p:txBody>
          <a:bodyPr lIns="91440" tIns="91440" rIns="91440" bIns="91440" anchor="t">
            <a:normAutofit/>
          </a:bodyPr>
          <a:lstStyle/>
          <a:p>
            <a:pPr indent="0">
              <a:buNone/>
              <a:tabLst>
                <a:tab pos="0" algn="l"/>
              </a:tabLst>
            </a:pPr>
            <a:r>
              <a:rPr lang="en-US" sz="3300" b="0" u="none" strike="noStrike">
                <a:solidFill>
                  <a:schemeClr val="dk1"/>
                </a:solidFill>
                <a:effectLst/>
                <a:uFillTx/>
              </a:rPr>
              <a:t>Feature engineering and</a:t>
            </a:r>
            <a:r>
              <a:rPr lang="en-US" sz="3300" b="0" i="1" u="none" strike="noStrike">
                <a:solidFill>
                  <a:schemeClr val="dk1"/>
                </a:solidFill>
                <a:effectLst/>
                <a:uFillTx/>
              </a:rPr>
              <a:t> selection</a:t>
            </a:r>
            <a:endParaRPr lang="fr-FR" sz="3300" b="0" u="none" strike="noStrike">
              <a:solidFill>
                <a:schemeClr val="dk1"/>
              </a:solidFill>
              <a:effectLst/>
              <a:uFillTx/>
            </a:endParaRPr>
          </a:p>
        </p:txBody>
      </p:sp>
      <p:sp>
        <p:nvSpPr>
          <p:cNvPr id="73" name="PlaceHolder 2"/>
          <p:cNvSpPr>
            <a:spLocks noGrp="1"/>
          </p:cNvSpPr>
          <p:nvPr>
            <p:ph type="subTitle" idx="4294967295"/>
          </p:nvPr>
        </p:nvSpPr>
        <p:spPr>
          <a:xfrm>
            <a:off x="923760" y="1247760"/>
            <a:ext cx="7295760" cy="18856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Albert Sans"/>
                <a:ea typeface="Albert Sans"/>
              </a:rPr>
              <a:t>Feature engineering involved segmenting laptops into distinct price categories including budget, mid-range, and premium. Numerical features were standardized for modeling, and irrelevant data such as URLs and raw text were removed. This careful selection focused on key technical specifications and market attributes to ensure optimal model performance and relevance.</a:t>
            </a:r>
            <a:endParaRPr lang="en-US" sz="1400" b="0" u="none" strike="noStrike">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2"/>
          <p:cNvSpPr>
            <a:spLocks noGrp="1"/>
          </p:cNvSpPr>
          <p:nvPr>
            <p:ph type="title"/>
          </p:nvPr>
        </p:nvSpPr>
        <p:spPr>
          <a:xfrm>
            <a:off x="2476440" y="1790640"/>
            <a:ext cx="6210000" cy="29142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4800" b="0" u="none" strike="noStrike">
                <a:solidFill>
                  <a:schemeClr val="dk1"/>
                </a:solidFill>
                <a:effectLst/>
                <a:uFillTx/>
                <a:latin typeface="Viaoda Libre"/>
                <a:ea typeface="Viaoda Libre"/>
              </a:rPr>
              <a:t>Machine Learning Models</a:t>
            </a:r>
            <a:endParaRPr lang="fr-FR" sz="4800" b="0" u="none" strike="noStrike">
              <a:solidFill>
                <a:schemeClr val="dk1"/>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2"/>
          <p:cNvSpPr>
            <a:spLocks noGrp="1"/>
          </p:cNvSpPr>
          <p:nvPr>
            <p:ph type="title"/>
          </p:nvPr>
        </p:nvSpPr>
        <p:spPr>
          <a:xfrm>
            <a:off x="630936" y="274320"/>
            <a:ext cx="7886700" cy="994410"/>
          </a:xfrm>
        </p:spPr>
        <p:txBody>
          <a:bodyPr lIns="91440" tIns="91440" rIns="91440" bIns="91440" anchor="ctr">
            <a:normAutofit/>
          </a:bodyPr>
          <a:lstStyle/>
          <a:p>
            <a:pPr indent="0">
              <a:buNone/>
              <a:tabLst>
                <a:tab pos="0" algn="l"/>
              </a:tabLst>
            </a:pPr>
            <a:r>
              <a:rPr lang="en-US" sz="2800" b="0" u="none" strike="noStrike">
                <a:solidFill>
                  <a:schemeClr val="dk1"/>
                </a:solidFill>
                <a:effectLst/>
                <a:uFillTx/>
              </a:rPr>
              <a:t>Unsupervised learning with clustering</a:t>
            </a:r>
            <a:r>
              <a:rPr lang="en-US" sz="2800" b="0" i="1" u="none" strike="noStrike">
                <a:solidFill>
                  <a:schemeClr val="dk1"/>
                </a:solidFill>
                <a:effectLst/>
                <a:uFillTx/>
              </a:rPr>
              <a:t> methods</a:t>
            </a:r>
            <a:endParaRPr lang="fr-FR" sz="2800" b="0" u="none" strike="noStrike">
              <a:solidFill>
                <a:schemeClr val="dk1"/>
              </a:solidFill>
              <a:effectLst/>
              <a:uFillTx/>
            </a:endParaRPr>
          </a:p>
        </p:txBody>
      </p:sp>
      <p:sp>
        <p:nvSpPr>
          <p:cNvPr id="76" name="PlaceHolder 1"/>
          <p:cNvSpPr>
            <a:spLocks noGrp="1"/>
          </p:cNvSpPr>
          <p:nvPr>
            <p:ph idx="4294967295"/>
          </p:nvPr>
        </p:nvSpPr>
        <p:spPr>
          <a:xfrm>
            <a:off x="630936" y="1459230"/>
            <a:ext cx="3752850" cy="3264408"/>
          </a:xfrm>
          <a:prstGeom prst="rect">
            <a:avLst/>
          </a:prstGeom>
          <a:noFill/>
          <a:ln w="0">
            <a:noFill/>
          </a:ln>
        </p:spPr>
        <p:txBody>
          <a:bodyPr lIns="91440" tIns="91440" rIns="91440" bIns="91440" anchor="t">
            <a:normAutofit/>
          </a:bodyPr>
          <a:lstStyle/>
          <a:p>
            <a:pPr marL="0" indent="0">
              <a:buNone/>
              <a:tabLst>
                <a:tab pos="0" algn="l"/>
              </a:tabLst>
            </a:pPr>
            <a:r>
              <a:rPr lang="en-US" sz="1400" b="0" u="none" strike="noStrike" kern="1200">
                <a:solidFill>
                  <a:schemeClr val="dk1"/>
                </a:solidFill>
                <a:effectLst/>
                <a:uFillTx/>
              </a:rPr>
              <a:t>K-Means clustering was employed to uncover natural groupings within the laptop data. The optimal cluster count was determined through the Elbow Method and Silhouette scores. Principal Component Analysis (PCA) was used for visualization, revealing clear separations that aligned with budget, mid-range, and premium market segments.</a:t>
            </a:r>
          </a:p>
        </p:txBody>
      </p:sp>
      <p:pic>
        <p:nvPicPr>
          <p:cNvPr id="2" name="Picture 1">
            <a:extLst>
              <a:ext uri="{FF2B5EF4-FFF2-40B4-BE49-F238E27FC236}">
                <a16:creationId xmlns:a16="http://schemas.microsoft.com/office/drawing/2014/main" id="{CB0196F3-AF52-6959-1FFD-63508F001509}"/>
              </a:ext>
            </a:extLst>
          </p:cNvPr>
          <p:cNvPicPr>
            <a:picLocks noChangeAspect="1"/>
          </p:cNvPicPr>
          <p:nvPr/>
        </p:nvPicPr>
        <p:blipFill>
          <a:blip r:embed="rId2"/>
          <a:srcRect l="5813" r="3939" b="-2"/>
          <a:stretch>
            <a:fillRect/>
          </a:stretch>
        </p:blipFill>
        <p:spPr>
          <a:xfrm>
            <a:off x="4764786" y="1459230"/>
            <a:ext cx="3752850" cy="3264408"/>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4FF7E-9329-B5F2-1C59-CE696CDC47C0}"/>
            </a:ext>
          </a:extLst>
        </p:cNvPr>
        <p:cNvGrpSpPr/>
        <p:nvPr/>
      </p:nvGrpSpPr>
      <p:grpSpPr>
        <a:xfrm>
          <a:off x="0" y="0"/>
          <a:ext cx="0" cy="0"/>
          <a:chOff x="0" y="0"/>
          <a:chExt cx="0" cy="0"/>
        </a:xfrm>
      </p:grpSpPr>
      <p:sp>
        <p:nvSpPr>
          <p:cNvPr id="77" name="PlaceHolder 2">
            <a:extLst>
              <a:ext uri="{FF2B5EF4-FFF2-40B4-BE49-F238E27FC236}">
                <a16:creationId xmlns:a16="http://schemas.microsoft.com/office/drawing/2014/main" id="{BFB93F19-7213-7E54-B718-3C7F888FDFDF}"/>
              </a:ext>
            </a:extLst>
          </p:cNvPr>
          <p:cNvSpPr>
            <a:spLocks noGrp="1"/>
          </p:cNvSpPr>
          <p:nvPr>
            <p:ph type="title"/>
          </p:nvPr>
        </p:nvSpPr>
        <p:spPr>
          <a:xfrm>
            <a:off x="630936" y="274320"/>
            <a:ext cx="7613654" cy="557634"/>
          </a:xfrm>
        </p:spPr>
        <p:txBody>
          <a:bodyPr lIns="91440" tIns="91440" rIns="91440" bIns="91440" anchor="ctr">
            <a:normAutofit fontScale="90000"/>
          </a:bodyPr>
          <a:lstStyle/>
          <a:p>
            <a:pPr>
              <a:tabLst>
                <a:tab pos="0" algn="l"/>
              </a:tabLst>
            </a:pPr>
            <a:r>
              <a:rPr lang="en-IN" sz="2800" dirty="0"/>
              <a:t>Elbow &amp; Silhouette Analysis (Cluster Selection)</a:t>
            </a:r>
            <a:endParaRPr lang="fr-FR" sz="2800" b="0" u="none" strike="noStrike" dirty="0">
              <a:solidFill>
                <a:schemeClr val="dk1"/>
              </a:solidFill>
              <a:effectLst/>
              <a:uFillTx/>
            </a:endParaRPr>
          </a:p>
        </p:txBody>
      </p:sp>
      <p:pic>
        <p:nvPicPr>
          <p:cNvPr id="4" name="Picture 3">
            <a:extLst>
              <a:ext uri="{FF2B5EF4-FFF2-40B4-BE49-F238E27FC236}">
                <a16:creationId xmlns:a16="http://schemas.microsoft.com/office/drawing/2014/main" id="{D95676AD-63F3-D70E-5A05-7F1553457B83}"/>
              </a:ext>
            </a:extLst>
          </p:cNvPr>
          <p:cNvPicPr>
            <a:picLocks noChangeAspect="1"/>
          </p:cNvPicPr>
          <p:nvPr/>
        </p:nvPicPr>
        <p:blipFill>
          <a:blip r:embed="rId2"/>
          <a:stretch>
            <a:fillRect/>
          </a:stretch>
        </p:blipFill>
        <p:spPr>
          <a:xfrm>
            <a:off x="4954249" y="1274164"/>
            <a:ext cx="4097561" cy="3353193"/>
          </a:xfrm>
          <a:prstGeom prst="rect">
            <a:avLst/>
          </a:prstGeom>
        </p:spPr>
      </p:pic>
      <p:sp>
        <p:nvSpPr>
          <p:cNvPr id="8" name="Rectangle 1">
            <a:extLst>
              <a:ext uri="{FF2B5EF4-FFF2-40B4-BE49-F238E27FC236}">
                <a16:creationId xmlns:a16="http://schemas.microsoft.com/office/drawing/2014/main" id="{E0574EB5-0006-DDEF-ABDE-A3C852877B1B}"/>
              </a:ext>
            </a:extLst>
          </p:cNvPr>
          <p:cNvSpPr>
            <a:spLocks noChangeArrowheads="1"/>
          </p:cNvSpPr>
          <p:nvPr/>
        </p:nvSpPr>
        <p:spPr bwMode="auto">
          <a:xfrm>
            <a:off x="194873" y="1311681"/>
            <a:ext cx="466194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Elbow Method</a:t>
            </a:r>
            <a:r>
              <a:rPr kumimoji="0" lang="en-US" altLang="en-US" sz="1800" b="0" i="0" u="none" strike="noStrike" cap="none" normalizeH="0" baseline="0" dirty="0">
                <a:ln>
                  <a:noFill/>
                </a:ln>
                <a:solidFill>
                  <a:schemeClr val="tx1"/>
                </a:solidFill>
                <a:effectLst/>
                <a:latin typeface="Arial" panose="020B0604020202020204" pitchFamily="34" charset="0"/>
              </a:rPr>
              <a:t> shows a noticeable reduction in inertia up to </a:t>
            </a:r>
            <a:r>
              <a:rPr kumimoji="0" lang="en-US" altLang="en-US" sz="1800" b="1" i="0" u="none" strike="noStrike" cap="none" normalizeH="0" baseline="0" dirty="0">
                <a:ln>
                  <a:noFill/>
                </a:ln>
                <a:solidFill>
                  <a:schemeClr val="tx1"/>
                </a:solidFill>
                <a:effectLst/>
                <a:latin typeface="Arial" panose="020B0604020202020204" pitchFamily="34" charset="0"/>
              </a:rPr>
              <a:t>K = 6</a:t>
            </a:r>
            <a:r>
              <a:rPr kumimoji="0" lang="en-US" altLang="en-US" sz="1800" b="0" i="0" u="none" strike="noStrike" cap="none" normalizeH="0" baseline="0" dirty="0">
                <a:ln>
                  <a:noFill/>
                </a:ln>
                <a:solidFill>
                  <a:schemeClr val="tx1"/>
                </a:solidFill>
                <a:effectLst/>
                <a:latin typeface="Arial" panose="020B0604020202020204" pitchFamily="34" charset="0"/>
              </a:rPr>
              <a:t>, after which improvements become marginal, indicating diminishing returns.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Silhouette Score</a:t>
            </a:r>
            <a:r>
              <a:rPr kumimoji="0" lang="en-US" altLang="en-US" sz="1800" b="0" i="0" u="none" strike="noStrike" cap="none" normalizeH="0" baseline="0" dirty="0">
                <a:ln>
                  <a:noFill/>
                </a:ln>
                <a:solidFill>
                  <a:schemeClr val="tx1"/>
                </a:solidFill>
                <a:effectLst/>
                <a:latin typeface="Arial" panose="020B0604020202020204" pitchFamily="34" charset="0"/>
              </a:rPr>
              <a:t> reaches its </a:t>
            </a:r>
            <a:r>
              <a:rPr kumimoji="0" lang="en-US" altLang="en-US" sz="1800" b="1" i="0" u="none" strike="noStrike" cap="none" normalizeH="0" baseline="0" dirty="0">
                <a:ln>
                  <a:noFill/>
                </a:ln>
                <a:solidFill>
                  <a:schemeClr val="tx1"/>
                </a:solidFill>
                <a:effectLst/>
                <a:latin typeface="Arial" panose="020B0604020202020204" pitchFamily="34" charset="0"/>
              </a:rPr>
              <a:t>peak around K = 6</a:t>
            </a:r>
            <a:r>
              <a:rPr kumimoji="0" lang="en-US" altLang="en-US" sz="1800" b="0" i="0" u="none" strike="noStrike" cap="none" normalizeH="0" baseline="0" dirty="0">
                <a:ln>
                  <a:noFill/>
                </a:ln>
                <a:solidFill>
                  <a:schemeClr val="tx1"/>
                </a:solidFill>
                <a:effectLst/>
                <a:latin typeface="Arial" panose="020B0604020202020204" pitchFamily="34" charset="0"/>
              </a:rPr>
              <a:t>, suggesting better cluster separation and cohesion at this point.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Combining both metrics, </a:t>
            </a:r>
            <a:r>
              <a:rPr kumimoji="0" lang="en-US" altLang="en-US" sz="1800" b="1" i="0" u="none" strike="noStrike" cap="none" normalizeH="0" baseline="0" dirty="0">
                <a:ln>
                  <a:noFill/>
                </a:ln>
                <a:solidFill>
                  <a:schemeClr val="tx1"/>
                </a:solidFill>
                <a:effectLst/>
                <a:latin typeface="Arial" panose="020B0604020202020204" pitchFamily="34" charset="0"/>
              </a:rPr>
              <a:t>K = 6</a:t>
            </a:r>
            <a:r>
              <a:rPr kumimoji="0" lang="en-US" altLang="en-US" sz="1800" b="0" i="0" u="none" strike="noStrike" cap="none" normalizeH="0" baseline="0" dirty="0">
                <a:ln>
                  <a:noFill/>
                </a:ln>
                <a:solidFill>
                  <a:schemeClr val="tx1"/>
                </a:solidFill>
                <a:effectLst/>
                <a:latin typeface="Arial" panose="020B0604020202020204" pitchFamily="34" charset="0"/>
              </a:rPr>
              <a:t> provides an optimal balance between compact clusters and clear separation.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validates the selection of </a:t>
            </a:r>
            <a:r>
              <a:rPr kumimoji="0" lang="en-US" altLang="en-US" sz="1800" b="1" i="0" u="none" strike="noStrike" cap="none" normalizeH="0" baseline="0" dirty="0">
                <a:ln>
                  <a:noFill/>
                </a:ln>
                <a:solidFill>
                  <a:schemeClr val="tx1"/>
                </a:solidFill>
                <a:effectLst/>
                <a:latin typeface="Arial" panose="020B0604020202020204" pitchFamily="34" charset="0"/>
              </a:rPr>
              <a:t>six clusters</a:t>
            </a:r>
            <a:r>
              <a:rPr kumimoji="0" lang="en-US" altLang="en-US" sz="1800" b="0" i="0" u="none" strike="noStrike" cap="none" normalizeH="0" baseline="0" dirty="0">
                <a:ln>
                  <a:noFill/>
                </a:ln>
                <a:solidFill>
                  <a:schemeClr val="tx1"/>
                </a:solidFill>
                <a:effectLst/>
                <a:latin typeface="Arial" panose="020B0604020202020204" pitchFamily="34" charset="0"/>
              </a:rPr>
              <a:t> for effective laptop market segmentation.</a:t>
            </a:r>
          </a:p>
        </p:txBody>
      </p:sp>
    </p:spTree>
    <p:extLst>
      <p:ext uri="{BB962C8B-B14F-4D97-AF65-F5344CB8AC3E}">
        <p14:creationId xmlns:p14="http://schemas.microsoft.com/office/powerpoint/2010/main" val="2476962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515160" y="212400"/>
            <a:ext cx="8113320" cy="644400"/>
          </a:xfrm>
        </p:spPr>
        <p:txBody>
          <a:bodyPr lIns="91440" tIns="91440" rIns="91440" bIns="91440" anchor="t">
            <a:normAutofit/>
          </a:bodyPr>
          <a:lstStyle/>
          <a:p>
            <a:pPr indent="0">
              <a:buNone/>
              <a:tabLst>
                <a:tab pos="0" algn="l"/>
              </a:tabLst>
            </a:pPr>
            <a:r>
              <a:rPr lang="en-US" sz="2800" b="0" u="none" strike="noStrike">
                <a:solidFill>
                  <a:schemeClr val="dk1"/>
                </a:solidFill>
                <a:effectLst/>
                <a:uFillTx/>
              </a:rPr>
              <a:t>Supervised classification with Random</a:t>
            </a:r>
            <a:r>
              <a:rPr lang="en-US" sz="2800" b="0" i="1" u="none" strike="noStrike">
                <a:solidFill>
                  <a:schemeClr val="dk1"/>
                </a:solidFill>
                <a:effectLst/>
                <a:uFillTx/>
              </a:rPr>
              <a:t> Forest</a:t>
            </a:r>
            <a:endParaRPr lang="fr-FR" sz="2800" b="0" u="none" strike="noStrike">
              <a:solidFill>
                <a:schemeClr val="dk1"/>
              </a:solidFill>
              <a:effectLst/>
              <a:uFillTx/>
            </a:endParaRPr>
          </a:p>
        </p:txBody>
      </p:sp>
      <p:sp>
        <p:nvSpPr>
          <p:cNvPr id="80" name="PlaceHolder 2"/>
          <p:cNvSpPr>
            <a:spLocks noGrp="1"/>
          </p:cNvSpPr>
          <p:nvPr>
            <p:ph type="subTitle" idx="4294967295"/>
          </p:nvPr>
        </p:nvSpPr>
        <p:spPr>
          <a:xfrm>
            <a:off x="923760" y="1247760"/>
            <a:ext cx="7295760" cy="18856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Random Forest Classifier was utilized for price category prediction. This algorithm was selected for its robustness against noise, capacity to model non-linear relationships, and reduced risk of overfitting. It effectively classified laptops into appropriate price segments by leveraging the engineered features.</a:t>
            </a:r>
            <a:endParaRPr lang="en-US" sz="1400" b="0" u="none" strike="noStrike">
              <a:solidFill>
                <a:srgbClr val="000000"/>
              </a:solidFill>
              <a:effectLst/>
              <a:uFillTx/>
              <a:latin typeface="OpenSymbo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515160" y="212400"/>
            <a:ext cx="8113320" cy="644400"/>
          </a:xfrm>
        </p:spPr>
        <p:txBody>
          <a:bodyPr lIns="91440" tIns="91440" rIns="91440" bIns="91440" anchor="t">
            <a:normAutofit/>
          </a:bodyPr>
          <a:lstStyle/>
          <a:p>
            <a:pPr indent="0">
              <a:buNone/>
              <a:tabLst>
                <a:tab pos="0" algn="l"/>
              </a:tabLst>
            </a:pPr>
            <a:r>
              <a:rPr lang="en-US" sz="3300" b="0" u="none" strike="noStrike">
                <a:solidFill>
                  <a:schemeClr val="dk1"/>
                </a:solidFill>
                <a:effectLst/>
                <a:uFillTx/>
              </a:rPr>
              <a:t>Model evaluation and</a:t>
            </a:r>
            <a:r>
              <a:rPr lang="en-US" sz="3300" b="0" i="1" u="none" strike="noStrike">
                <a:solidFill>
                  <a:schemeClr val="dk1"/>
                </a:solidFill>
                <a:effectLst/>
                <a:uFillTx/>
              </a:rPr>
              <a:t> persistence</a:t>
            </a:r>
            <a:endParaRPr lang="fr-FR" sz="3300" b="0" u="none" strike="noStrike">
              <a:solidFill>
                <a:schemeClr val="dk1"/>
              </a:solidFill>
              <a:effectLst/>
              <a:uFillTx/>
            </a:endParaRPr>
          </a:p>
        </p:txBody>
      </p:sp>
      <p:sp>
        <p:nvSpPr>
          <p:cNvPr id="82" name="PlaceHolder 2"/>
          <p:cNvSpPr>
            <a:spLocks noGrp="1"/>
          </p:cNvSpPr>
          <p:nvPr>
            <p:ph type="subTitle" idx="4294967295"/>
          </p:nvPr>
        </p:nvSpPr>
        <p:spPr>
          <a:xfrm>
            <a:off x="923760" y="1247760"/>
            <a:ext cx="7295760" cy="18856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model was validated using a train-test split, achieving strong accuracy especially for mid-range and premium classes. After validation, the full model, along with preprocessing components like scalers and encoders, was saved to enable consistent and efficient future predictions without retraining.</a:t>
            </a:r>
            <a:endParaRPr lang="en-US" sz="1400" b="0" u="none" strike="noStrike">
              <a:solidFill>
                <a:srgbClr val="000000"/>
              </a:solidFill>
              <a:effectLst/>
              <a:uFillTx/>
              <a:latin typeface="OpenSymbo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2"/>
          <p:cNvSpPr>
            <a:spLocks noGrp="1"/>
          </p:cNvSpPr>
          <p:nvPr>
            <p:ph type="title"/>
          </p:nvPr>
        </p:nvSpPr>
        <p:spPr>
          <a:xfrm>
            <a:off x="2476440" y="1790640"/>
            <a:ext cx="6210000" cy="291420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4800" b="0" u="none" strike="noStrike">
                <a:solidFill>
                  <a:schemeClr val="dk1"/>
                </a:solidFill>
                <a:effectLst/>
                <a:uFillTx/>
                <a:latin typeface="Viaoda Libre"/>
                <a:ea typeface="Viaoda Libre"/>
              </a:rPr>
              <a:t>Deployment and Impact</a:t>
            </a:r>
            <a:endParaRPr lang="fr-FR" sz="4800" b="0" u="none" strike="noStrike">
              <a:solidFill>
                <a:schemeClr val="dk1"/>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2"/>
          <p:cNvSpPr>
            <a:spLocks noGrp="1"/>
          </p:cNvSpPr>
          <p:nvPr>
            <p:ph type="body"/>
          </p:nvPr>
        </p:nvSpPr>
        <p:spPr>
          <a:xfrm>
            <a:off x="350196" y="1165869"/>
            <a:ext cx="2801566" cy="3269943"/>
          </a:xfrm>
        </p:spPr>
        <p:txBody>
          <a:bodyPr lIns="91440" tIns="91440" rIns="91440" bIns="91440" anchor="t">
            <a:normAutofit/>
          </a:bodyPr>
          <a:lstStyle/>
          <a:p>
            <a:pPr indent="0">
              <a:buNone/>
              <a:tabLst>
                <a:tab pos="0" algn="l"/>
              </a:tabLst>
            </a:pPr>
            <a:r>
              <a:rPr lang="en-US" sz="1600" b="0" u="none" strike="noStrike" dirty="0">
                <a:solidFill>
                  <a:srgbClr val="000000"/>
                </a:solidFill>
                <a:effectLst/>
                <a:uFillTx/>
              </a:rPr>
              <a:t>An interactive web app was developed using </a:t>
            </a:r>
            <a:r>
              <a:rPr lang="en-US" sz="1600" b="0" u="none" strike="noStrike" dirty="0" err="1">
                <a:solidFill>
                  <a:srgbClr val="000000"/>
                </a:solidFill>
                <a:effectLst/>
                <a:uFillTx/>
              </a:rPr>
              <a:t>Streamlit</a:t>
            </a:r>
            <a:r>
              <a:rPr lang="en-US" sz="1600" b="0" u="none" strike="noStrike" dirty="0">
                <a:solidFill>
                  <a:srgbClr val="000000"/>
                </a:solidFill>
                <a:effectLst/>
                <a:uFillTx/>
              </a:rPr>
              <a:t> to allow users to input laptop features and receive real-time price category predictions. The app includes dynamic feature selection based on brand and provides an intuitive user experience for buyers and sellers looking for pricing insights.</a:t>
            </a:r>
          </a:p>
        </p:txBody>
      </p:sp>
      <p:sp>
        <p:nvSpPr>
          <p:cNvPr id="85" name="PlaceHolder 1"/>
          <p:cNvSpPr>
            <a:spLocks noGrp="1"/>
          </p:cNvSpPr>
          <p:nvPr>
            <p:ph type="body"/>
          </p:nvPr>
        </p:nvSpPr>
        <p:spPr>
          <a:xfrm>
            <a:off x="515160" y="212400"/>
            <a:ext cx="8113320" cy="644400"/>
          </a:xfrm>
        </p:spPr>
        <p:txBody>
          <a:bodyPr lIns="91440" tIns="91440" rIns="91440" bIns="91440" anchor="t">
            <a:normAutofit/>
          </a:bodyPr>
          <a:lstStyle/>
          <a:p>
            <a:pPr indent="0">
              <a:buNone/>
              <a:tabLst>
                <a:tab pos="0" algn="l"/>
              </a:tabLst>
            </a:pPr>
            <a:r>
              <a:rPr lang="en-US" sz="3300" b="0" u="none" strike="noStrike">
                <a:solidFill>
                  <a:schemeClr val="dk1"/>
                </a:solidFill>
                <a:effectLst/>
                <a:uFillTx/>
              </a:rPr>
              <a:t>Streamlit app for real-time</a:t>
            </a:r>
            <a:r>
              <a:rPr lang="en-US" sz="3300" b="0" i="1" u="none" strike="noStrike">
                <a:solidFill>
                  <a:schemeClr val="dk1"/>
                </a:solidFill>
                <a:effectLst/>
                <a:uFillTx/>
              </a:rPr>
              <a:t> predictions</a:t>
            </a:r>
            <a:endParaRPr lang="fr-FR" sz="3300" b="0" u="none" strike="noStrike">
              <a:solidFill>
                <a:schemeClr val="dk1"/>
              </a:solidFill>
              <a:effectLst/>
              <a:uFillTx/>
            </a:endParaRPr>
          </a:p>
        </p:txBody>
      </p:sp>
      <p:pic>
        <p:nvPicPr>
          <p:cNvPr id="3" name="Picture 2">
            <a:extLst>
              <a:ext uri="{FF2B5EF4-FFF2-40B4-BE49-F238E27FC236}">
                <a16:creationId xmlns:a16="http://schemas.microsoft.com/office/drawing/2014/main" id="{624392CE-2C30-DBF7-0285-169827119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6556" y="967918"/>
            <a:ext cx="5477248" cy="36138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p:nvPr>
        </p:nvSpPr>
        <p:spPr>
          <a:xfrm>
            <a:off x="847800" y="1200240"/>
            <a:ext cx="4619160" cy="21045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This system automates price segmentation, helping buyers identify good value laptops and assisting sellers in setting competitive prices. It enhances market transparency and supports data-informed decision-making to improve pricing strategies and customer satisfaction.</a:t>
            </a:r>
            <a:endParaRPr lang="fr-FR" sz="1400" b="0" u="none" strike="noStrike">
              <a:solidFill>
                <a:srgbClr val="000000"/>
              </a:solidFill>
              <a:effectLst/>
              <a:uFillTx/>
              <a:latin typeface="Arial"/>
            </a:endParaRPr>
          </a:p>
        </p:txBody>
      </p:sp>
      <p:sp>
        <p:nvSpPr>
          <p:cNvPr id="88" name="PlaceHolder 2"/>
          <p:cNvSpPr>
            <a:spLocks noGrp="1"/>
          </p:cNvSpPr>
          <p:nvPr>
            <p:ph type="title"/>
          </p:nvPr>
        </p:nvSpPr>
        <p:spPr>
          <a:xfrm>
            <a:off x="514440" y="209520"/>
            <a:ext cx="8115120" cy="64728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300" b="0" u="none" strike="noStrike">
                <a:solidFill>
                  <a:schemeClr val="dk1"/>
                </a:solidFill>
                <a:effectLst/>
                <a:uFillTx/>
                <a:latin typeface="Viaoda Libre"/>
                <a:ea typeface="Viaoda Libre"/>
              </a:rPr>
              <a:t>Business implications for buyers and</a:t>
            </a:r>
            <a:r>
              <a:rPr lang="en-US" sz="3300" b="0" i="1" u="none" strike="noStrike">
                <a:solidFill>
                  <a:schemeClr val="dk1"/>
                </a:solidFill>
                <a:effectLst/>
                <a:uFillTx/>
                <a:latin typeface="Viaoda Libre"/>
                <a:ea typeface="Viaoda Libre"/>
              </a:rPr>
              <a:t> sellers</a:t>
            </a:r>
            <a:endParaRPr lang="fr-FR" sz="3300" b="0" u="none" strike="noStrike">
              <a:solidFill>
                <a:schemeClr val="dk1"/>
              </a:solidFill>
              <a:effectLst/>
              <a:uFillTx/>
              <a:latin typeface="Arial"/>
            </a:endParaRPr>
          </a:p>
        </p:txBody>
      </p:sp>
      <p:pic>
        <p:nvPicPr>
          <p:cNvPr id="89" name="Google Shape;184;p31"/>
          <p:cNvPicPr/>
          <p:nvPr/>
        </p:nvPicPr>
        <p:blipFill>
          <a:blip r:embed="rId2"/>
          <a:srcRect l="20913" r="40199" b="19910"/>
          <a:stretch/>
        </p:blipFill>
        <p:spPr>
          <a:xfrm>
            <a:off x="5782680" y="1249560"/>
            <a:ext cx="3360960" cy="389376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2"/>
          <p:cNvSpPr>
            <a:spLocks noGrp="1"/>
          </p:cNvSpPr>
          <p:nvPr>
            <p:ph type="body"/>
          </p:nvPr>
        </p:nvSpPr>
        <p:spPr>
          <a:xfrm>
            <a:off x="4053600" y="1704960"/>
            <a:ext cx="4512600" cy="2836440"/>
          </a:xfrm>
        </p:spPr>
        <p:txBody>
          <a:bodyPr lIns="91440" tIns="91440" rIns="91440" bIns="91440" anchor="t">
            <a:normAutofit/>
          </a:bodyPr>
          <a:lstStyle/>
          <a:p>
            <a:pPr indent="0">
              <a:buNone/>
              <a:tabLst>
                <a:tab pos="0" algn="l"/>
              </a:tabLst>
            </a:pPr>
            <a:r>
              <a:rPr lang="en-US" sz="1400" b="0" u="none" strike="noStrike">
                <a:solidFill>
                  <a:srgbClr val="000000"/>
                </a:solidFill>
                <a:effectLst/>
                <a:uFillTx/>
              </a:rPr>
              <a:t>Current limitations include reliance on historical scraped data and limited feature scope from listings. Some price segments overlap, impacting precision. Planned improvements involve integrating real-time data, adopting advanced models like XGBoost and deep learning, deploying cloud-based APIs, and building recommendation systems.</a:t>
            </a:r>
          </a:p>
        </p:txBody>
      </p:sp>
      <p:sp>
        <p:nvSpPr>
          <p:cNvPr id="90" name="PlaceHolder 1"/>
          <p:cNvSpPr>
            <a:spLocks noGrp="1"/>
          </p:cNvSpPr>
          <p:nvPr>
            <p:ph type="body"/>
          </p:nvPr>
        </p:nvSpPr>
        <p:spPr>
          <a:xfrm>
            <a:off x="515160" y="212400"/>
            <a:ext cx="8113320" cy="644400"/>
          </a:xfrm>
        </p:spPr>
        <p:txBody>
          <a:bodyPr lIns="91440" tIns="91440" rIns="91440" bIns="91440" anchor="t">
            <a:normAutofit/>
          </a:bodyPr>
          <a:lstStyle/>
          <a:p>
            <a:pPr indent="0">
              <a:buNone/>
              <a:tabLst>
                <a:tab pos="0" algn="l"/>
              </a:tabLst>
            </a:pPr>
            <a:r>
              <a:rPr lang="en-US" sz="3300" b="0" u="none" strike="noStrike">
                <a:solidFill>
                  <a:schemeClr val="dk1"/>
                </a:solidFill>
                <a:effectLst/>
                <a:uFillTx/>
              </a:rPr>
              <a:t>Limitations and future</a:t>
            </a:r>
            <a:r>
              <a:rPr lang="en-US" sz="3300" b="0" i="1" u="none" strike="noStrike">
                <a:solidFill>
                  <a:schemeClr val="dk1"/>
                </a:solidFill>
                <a:effectLst/>
                <a:uFillTx/>
              </a:rPr>
              <a:t> enhancements</a:t>
            </a:r>
            <a:endParaRPr lang="fr-FR" sz="3300" b="0" u="none" strike="noStrike">
              <a:solidFill>
                <a:schemeClr val="dk1"/>
              </a:solidFill>
              <a:effectLst/>
              <a:uFillTx/>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515160" y="212400"/>
            <a:ext cx="8113320" cy="644400"/>
          </a:xfrm>
        </p:spPr>
        <p:txBody>
          <a:bodyPr lIns="91440" tIns="91440" rIns="91440" bIns="91440" anchor="t">
            <a:normAutofit/>
          </a:bodyPr>
          <a:lstStyle/>
          <a:p>
            <a:pPr indent="0">
              <a:buNone/>
              <a:tabLst>
                <a:tab pos="0" algn="l"/>
              </a:tabLst>
            </a:pPr>
            <a:r>
              <a:rPr lang="en-US" sz="3300" b="0" u="none" strike="noStrike">
                <a:solidFill>
                  <a:schemeClr val="dk1"/>
                </a:solidFill>
                <a:effectLst/>
                <a:uFillTx/>
              </a:rPr>
              <a:t>Conclusions</a:t>
            </a:r>
            <a:endParaRPr lang="fr-FR" sz="3300" b="0" u="none" strike="noStrike">
              <a:solidFill>
                <a:schemeClr val="dk1"/>
              </a:solidFill>
              <a:effectLst/>
              <a:uFillTx/>
            </a:endParaRPr>
          </a:p>
        </p:txBody>
      </p:sp>
      <p:sp>
        <p:nvSpPr>
          <p:cNvPr id="93" name="PlaceHolder 2"/>
          <p:cNvSpPr>
            <a:spLocks noGrp="1"/>
          </p:cNvSpPr>
          <p:nvPr>
            <p:ph type="subTitle" idx="4294967295"/>
          </p:nvPr>
        </p:nvSpPr>
        <p:spPr>
          <a:xfrm>
            <a:off x="923760" y="1247760"/>
            <a:ext cx="7295760" cy="18856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400" b="0" u="none" strike="noStrike">
                <a:solidFill>
                  <a:schemeClr val="dk1"/>
                </a:solidFill>
                <a:effectLst/>
                <a:uFillTx/>
                <a:latin typeface="Albert Sans"/>
                <a:ea typeface="Albert Sans"/>
              </a:rPr>
              <a:t>The project successfully demonstrated an end-to-end machine learning approach, converting real-world laptop data into actionable market intelligence. It combined exploratory data analysis, clustering, supervised learning, and practical deployment, offering a scalable and effective solution for automated laptop price segmentation.</a:t>
            </a:r>
            <a:endParaRPr lang="en-US" sz="1400" b="0" u="none" strike="noStrike">
              <a:solidFill>
                <a:srgbClr val="000000"/>
              </a:solidFill>
              <a:effectLst/>
              <a:uFillTx/>
              <a:latin typeface="OpenSymbo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743C1-C5F6-B93A-F73C-DBC6A9302A3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18299BF-8788-C5DC-54AA-40ACC6B194CC}"/>
              </a:ext>
            </a:extLst>
          </p:cNvPr>
          <p:cNvPicPr>
            <a:picLocks noChangeAspect="1"/>
          </p:cNvPicPr>
          <p:nvPr/>
        </p:nvPicPr>
        <p:blipFill>
          <a:blip r:embed="rId2"/>
          <a:stretch>
            <a:fillRect/>
          </a:stretch>
        </p:blipFill>
        <p:spPr>
          <a:xfrm>
            <a:off x="2904338" y="339638"/>
            <a:ext cx="5913633" cy="2920237"/>
          </a:xfrm>
          <a:prstGeom prst="rect">
            <a:avLst/>
          </a:prstGeom>
        </p:spPr>
      </p:pic>
    </p:spTree>
    <p:extLst>
      <p:ext uri="{BB962C8B-B14F-4D97-AF65-F5344CB8AC3E}">
        <p14:creationId xmlns:p14="http://schemas.microsoft.com/office/powerpoint/2010/main" val="2818283115"/>
      </p:ext>
    </p:extLst>
  </p:cSld>
  <p:clrMapOvr>
    <a:masterClrMapping/>
  </p:clrMapOvr>
</p:sld>
</file>

<file path=ppt/theme/theme1.xml><?xml version="1.0" encoding="utf-8"?>
<a:theme xmlns:a="http://schemas.openxmlformats.org/drawingml/2006/main"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TotalTime>
  <Words>927</Words>
  <Application>Microsoft Office PowerPoint</Application>
  <PresentationFormat>On-screen Show (16:9)</PresentationFormat>
  <Paragraphs>51</Paragraphs>
  <Slides>22</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22</vt:i4>
      </vt:variant>
    </vt:vector>
  </HeadingPairs>
  <TitlesOfParts>
    <vt:vector size="34" baseType="lpstr">
      <vt:lpstr>Helvetica World</vt:lpstr>
      <vt:lpstr>Helvetica World Bold</vt:lpstr>
      <vt:lpstr>Albert Sans</vt:lpstr>
      <vt:lpstr>Arial</vt:lpstr>
      <vt:lpstr>Helvetica World </vt:lpstr>
      <vt:lpstr>OpenSymbol</vt:lpstr>
      <vt:lpstr>Symbol</vt:lpstr>
      <vt:lpstr>Times New Roman</vt:lpstr>
      <vt:lpstr>Viaoda Libre</vt:lpstr>
      <vt:lpstr>Wingdings</vt:lpstr>
      <vt:lpstr>Minimal Gradient by Slidesgo</vt:lpstr>
      <vt:lpstr>Slidesgo Final Pages</vt:lpstr>
      <vt:lpstr>Laptop Market Intelligence System for Price Segmentation Using Machine Learning</vt:lpstr>
      <vt:lpstr>Introduction</vt:lpstr>
      <vt:lpstr>Laptop market growth and challenges</vt:lpstr>
      <vt:lpstr>Need for data-driven pricing segmentation</vt:lpstr>
      <vt:lpstr>Project Objectives</vt:lpstr>
      <vt:lpstr>Objective of machine learning application</vt:lpstr>
      <vt:lpstr>Data Handling</vt:lpstr>
      <vt:lpstr>Data collection from Flipkart via web scraping</vt:lpstr>
      <vt:lpstr>Data collection from Flipkart via web scraping</vt:lpstr>
      <vt:lpstr>Data cleaning and preprocessing techniques</vt:lpstr>
      <vt:lpstr>Feature engineering and selection</vt:lpstr>
      <vt:lpstr>Machine Learning Models</vt:lpstr>
      <vt:lpstr>Unsupervised learning with clustering methods</vt:lpstr>
      <vt:lpstr>Elbow &amp; Silhouette Analysis (Cluster Selection)</vt:lpstr>
      <vt:lpstr>Supervised classification with Random Forest</vt:lpstr>
      <vt:lpstr>Model evaluation and persistence</vt:lpstr>
      <vt:lpstr>Deployment and Impact</vt:lpstr>
      <vt:lpstr>PowerPoint Presentation</vt:lpstr>
      <vt:lpstr>Business implications for buyers and sellers</vt:lpstr>
      <vt:lpstr>PowerPoint Presentation</vt:lpstr>
      <vt:lpstr>Conclusions</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S.Krishna Kumar</cp:lastModifiedBy>
  <cp:revision>2</cp:revision>
  <dcterms:modified xsi:type="dcterms:W3CDTF">2026-01-08T07:04:22Z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2026-01-08T05:55:07Z</dcterms:created>
  <dc:creator>Unknown Creator</dc:creator>
  <dc:description/>
  <dc:language>en-US</dc:language>
  <cp:lastModifiedBy>Unknown Creator</cp:lastModifiedBy>
  <dcterms:modified xsi:type="dcterms:W3CDTF">2026-01-08T05:55:07Z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